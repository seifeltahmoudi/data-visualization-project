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94610"/>
  </p:normalViewPr>
  <p:slideViewPr>
    <p:cSldViewPr snapToGrid="0" snapToObjects="1">
      <p:cViewPr varScale="1">
        <p:scale>
          <a:sx n="91" d="100"/>
          <a:sy n="91" d="100"/>
        </p:scale>
        <p:origin x="81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5052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57"/>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5A623"/>
          </a:solidFill>
          <a:ln w="12700">
            <a:solidFill>
              <a:srgbClr val="F5A623"/>
            </a:solidFill>
            <a:prstDash val="solid"/>
          </a:ln>
        </p:spPr>
        <p:txBody>
          <a:bodyPr/>
          <a:lstStyle/>
          <a:p>
            <a:endParaRPr lang="en-US"/>
          </a:p>
        </p:txBody>
      </p:sp>
      <p:sp>
        <p:nvSpPr>
          <p:cNvPr id="3" name="Shape 1"/>
          <p:cNvSpPr/>
          <p:nvPr/>
        </p:nvSpPr>
        <p:spPr>
          <a:xfrm>
            <a:off x="7132320" y="-457200"/>
            <a:ext cx="3200400" cy="3200400"/>
          </a:xfrm>
          <a:prstGeom prst="ellipse">
            <a:avLst/>
          </a:prstGeom>
          <a:solidFill>
            <a:srgbClr val="0B7BA5">
              <a:alpha val="20000"/>
            </a:srgbClr>
          </a:solidFill>
          <a:ln w="12700">
            <a:solidFill>
              <a:srgbClr val="0B7BA5">
                <a:alpha val="40000"/>
              </a:srgbClr>
            </a:solidFill>
            <a:prstDash val="solid"/>
          </a:ln>
        </p:spPr>
        <p:txBody>
          <a:bodyPr/>
          <a:lstStyle/>
          <a:p>
            <a:endParaRPr lang="en-US"/>
          </a:p>
        </p:txBody>
      </p:sp>
      <p:sp>
        <p:nvSpPr>
          <p:cNvPr id="4" name="Shape 2"/>
          <p:cNvSpPr/>
          <p:nvPr/>
        </p:nvSpPr>
        <p:spPr>
          <a:xfrm>
            <a:off x="7772400" y="2926080"/>
            <a:ext cx="2011680" cy="2011680"/>
          </a:xfrm>
          <a:prstGeom prst="ellipse">
            <a:avLst/>
          </a:prstGeom>
          <a:solidFill>
            <a:srgbClr val="F5A623">
              <a:alpha val="15000"/>
            </a:srgbClr>
          </a:solidFill>
          <a:ln w="12700">
            <a:solidFill>
              <a:srgbClr val="F5A623">
                <a:alpha val="30000"/>
              </a:srgbClr>
            </a:solidFill>
            <a:prstDash val="solid"/>
          </a:ln>
        </p:spPr>
        <p:txBody>
          <a:bodyPr/>
          <a:lstStyle/>
          <a:p>
            <a:endParaRPr lang="en-US"/>
          </a:p>
        </p:txBody>
      </p:sp>
      <p:sp>
        <p:nvSpPr>
          <p:cNvPr id="5" name="Text 3"/>
          <p:cNvSpPr/>
          <p:nvPr/>
        </p:nvSpPr>
        <p:spPr>
          <a:xfrm>
            <a:off x="365760" y="411480"/>
            <a:ext cx="8229600" cy="365760"/>
          </a:xfrm>
          <a:prstGeom prst="rect">
            <a:avLst/>
          </a:prstGeom>
          <a:noFill/>
          <a:ln/>
        </p:spPr>
        <p:txBody>
          <a:bodyPr wrap="square" rtlCol="0" anchor="ctr"/>
          <a:lstStyle/>
          <a:p>
            <a:pPr marL="0" indent="0">
              <a:buNone/>
            </a:pPr>
            <a:r>
              <a:rPr lang="en-US" sz="1300" kern="0" spc="300" dirty="0">
                <a:solidFill>
                  <a:srgbClr val="6B8CAE"/>
                </a:solidFill>
                <a:latin typeface="Calibri" pitchFamily="34" charset="0"/>
                <a:ea typeface="Calibri" pitchFamily="34" charset="-122"/>
                <a:cs typeface="Calibri" pitchFamily="34" charset="-120"/>
              </a:rPr>
              <a:t>DSCI 2411  ·  Data Visualization</a:t>
            </a:r>
            <a:endParaRPr lang="en-US" sz="1300" dirty="0"/>
          </a:p>
        </p:txBody>
      </p:sp>
      <p:sp>
        <p:nvSpPr>
          <p:cNvPr id="6" name="Text 4"/>
          <p:cNvSpPr/>
          <p:nvPr/>
        </p:nvSpPr>
        <p:spPr>
          <a:xfrm>
            <a:off x="365760" y="914400"/>
            <a:ext cx="7772400" cy="1371600"/>
          </a:xfrm>
          <a:prstGeom prst="rect">
            <a:avLst/>
          </a:prstGeom>
          <a:noFill/>
          <a:ln/>
        </p:spPr>
        <p:txBody>
          <a:bodyPr wrap="square"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What Makes People Happy?</a:t>
            </a:r>
            <a:endParaRPr lang="en-US" sz="4600" dirty="0"/>
          </a:p>
        </p:txBody>
      </p:sp>
      <p:sp>
        <p:nvSpPr>
          <p:cNvPr id="7" name="Text 5"/>
          <p:cNvSpPr/>
          <p:nvPr/>
        </p:nvSpPr>
        <p:spPr>
          <a:xfrm>
            <a:off x="365760" y="2286000"/>
            <a:ext cx="7772400" cy="502920"/>
          </a:xfrm>
          <a:prstGeom prst="rect">
            <a:avLst/>
          </a:prstGeom>
          <a:noFill/>
          <a:ln/>
        </p:spPr>
        <p:txBody>
          <a:bodyPr wrap="square" rtlCol="0" anchor="ctr"/>
          <a:lstStyle/>
          <a:p>
            <a:pPr marL="0" indent="0">
              <a:buNone/>
            </a:pPr>
            <a:r>
              <a:rPr lang="en-US" sz="2200" dirty="0">
                <a:solidFill>
                  <a:srgbClr val="1AA3C9"/>
                </a:solidFill>
                <a:latin typeface="Calibri" pitchFamily="34" charset="0"/>
                <a:ea typeface="Calibri" pitchFamily="34" charset="-122"/>
                <a:cs typeface="Calibri" pitchFamily="34" charset="-120"/>
              </a:rPr>
              <a:t>A Global Analysis of Happiness Drivers</a:t>
            </a:r>
            <a:endParaRPr lang="en-US" sz="2200" dirty="0"/>
          </a:p>
        </p:txBody>
      </p:sp>
      <p:sp>
        <p:nvSpPr>
          <p:cNvPr id="8" name="Shape 6"/>
          <p:cNvSpPr/>
          <p:nvPr/>
        </p:nvSpPr>
        <p:spPr>
          <a:xfrm>
            <a:off x="365760" y="2926080"/>
            <a:ext cx="3200400" cy="36576"/>
          </a:xfrm>
          <a:prstGeom prst="rect">
            <a:avLst/>
          </a:prstGeom>
          <a:solidFill>
            <a:srgbClr val="F5A623"/>
          </a:solidFill>
          <a:ln w="12700">
            <a:solidFill>
              <a:srgbClr val="F5A623"/>
            </a:solidFill>
            <a:prstDash val="solid"/>
          </a:ln>
        </p:spPr>
        <p:txBody>
          <a:bodyPr/>
          <a:lstStyle/>
          <a:p>
            <a:endParaRPr lang="en-US"/>
          </a:p>
        </p:txBody>
      </p:sp>
      <p:sp>
        <p:nvSpPr>
          <p:cNvPr id="9" name="Text 7"/>
          <p:cNvSpPr/>
          <p:nvPr/>
        </p:nvSpPr>
        <p:spPr>
          <a:xfrm>
            <a:off x="365760" y="3108960"/>
            <a:ext cx="7315200" cy="320040"/>
          </a:xfrm>
          <a:prstGeom prst="rect">
            <a:avLst/>
          </a:prstGeom>
          <a:noFill/>
          <a:ln/>
        </p:spPr>
        <p:txBody>
          <a:bodyPr wrap="square" rtlCol="0" anchor="ctr"/>
          <a:lstStyle/>
          <a:p>
            <a:pPr marL="0" indent="0">
              <a:buNone/>
            </a:pPr>
            <a:r>
              <a:rPr lang="en-US" sz="1300" dirty="0">
                <a:solidFill>
                  <a:srgbClr val="6B8CAE"/>
                </a:solidFill>
                <a:latin typeface="Calibri" pitchFamily="34" charset="0"/>
                <a:ea typeface="Calibri" pitchFamily="34" charset="-122"/>
                <a:cs typeface="Calibri" pitchFamily="34" charset="-120"/>
              </a:rPr>
              <a:t>Farah Sabri  ·  Seif Eltahmoudi  ·  Karim Nashed</a:t>
            </a:r>
            <a:endParaRPr lang="en-US" sz="1300" dirty="0"/>
          </a:p>
        </p:txBody>
      </p:sp>
      <p:sp>
        <p:nvSpPr>
          <p:cNvPr id="10" name="Text 8"/>
          <p:cNvSpPr/>
          <p:nvPr/>
        </p:nvSpPr>
        <p:spPr>
          <a:xfrm>
            <a:off x="365760" y="3474720"/>
            <a:ext cx="7315200" cy="320040"/>
          </a:xfrm>
          <a:prstGeom prst="rect">
            <a:avLst/>
          </a:prstGeom>
          <a:noFill/>
          <a:ln/>
        </p:spPr>
        <p:txBody>
          <a:bodyPr wrap="square" rtlCol="0" anchor="ctr"/>
          <a:lstStyle/>
          <a:p>
            <a:pPr marL="0" indent="0">
              <a:buNone/>
            </a:pPr>
            <a:r>
              <a:rPr lang="en-US" sz="1300" dirty="0">
                <a:solidFill>
                  <a:srgbClr val="6B8CAE"/>
                </a:solidFill>
                <a:latin typeface="Calibri" pitchFamily="34" charset="0"/>
                <a:ea typeface="Calibri" pitchFamily="34" charset="-122"/>
                <a:cs typeface="Calibri" pitchFamily="34" charset="-120"/>
              </a:rPr>
              <a:t>Spring 2026  ·  The American University in Cairo</a:t>
            </a:r>
            <a:endParaRPr lang="en-US" sz="1300" dirty="0"/>
          </a:p>
        </p:txBody>
      </p:sp>
      <p:sp>
        <p:nvSpPr>
          <p:cNvPr id="11" name="Shape 9"/>
          <p:cNvSpPr/>
          <p:nvPr/>
        </p:nvSpPr>
        <p:spPr>
          <a:xfrm>
            <a:off x="320040" y="4389120"/>
            <a:ext cx="1920240" cy="502920"/>
          </a:xfrm>
          <a:prstGeom prst="rect">
            <a:avLst/>
          </a:prstGeom>
          <a:solidFill>
            <a:srgbClr val="1AA3C9">
              <a:alpha val="70000"/>
            </a:srgbClr>
          </a:solidFill>
          <a:ln w="12700">
            <a:solidFill>
              <a:srgbClr val="1AA3C9"/>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320040" y="4389120"/>
            <a:ext cx="19202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Opening</a:t>
            </a:r>
            <a:endParaRPr lang="en-US" sz="1400" dirty="0"/>
          </a:p>
        </p:txBody>
      </p:sp>
      <p:sp>
        <p:nvSpPr>
          <p:cNvPr id="13" name="Shape 11"/>
          <p:cNvSpPr/>
          <p:nvPr/>
        </p:nvSpPr>
        <p:spPr>
          <a:xfrm>
            <a:off x="2468880" y="4389120"/>
            <a:ext cx="1920240" cy="502920"/>
          </a:xfrm>
          <a:prstGeom prst="rect">
            <a:avLst/>
          </a:prstGeom>
          <a:solidFill>
            <a:srgbClr val="F5A623">
              <a:alpha val="70000"/>
            </a:srgbClr>
          </a:solidFill>
          <a:ln w="12700">
            <a:solidFill>
              <a:srgbClr val="F5A623"/>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2468880" y="4389120"/>
            <a:ext cx="19202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Challenge</a:t>
            </a:r>
            <a:endParaRPr lang="en-US" sz="1400" dirty="0"/>
          </a:p>
        </p:txBody>
      </p:sp>
      <p:sp>
        <p:nvSpPr>
          <p:cNvPr id="15" name="Shape 13"/>
          <p:cNvSpPr/>
          <p:nvPr/>
        </p:nvSpPr>
        <p:spPr>
          <a:xfrm>
            <a:off x="4617720" y="4389120"/>
            <a:ext cx="1920240" cy="502920"/>
          </a:xfrm>
          <a:prstGeom prst="rect">
            <a:avLst/>
          </a:prstGeom>
          <a:solidFill>
            <a:srgbClr val="E85D3B">
              <a:alpha val="70000"/>
            </a:srgbClr>
          </a:solidFill>
          <a:ln w="12700">
            <a:solidFill>
              <a:srgbClr val="E85D3B"/>
            </a:solidFill>
            <a:prstDash val="solid"/>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4617720" y="4389120"/>
            <a:ext cx="19202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17" name="Shape 15"/>
          <p:cNvSpPr/>
          <p:nvPr/>
        </p:nvSpPr>
        <p:spPr>
          <a:xfrm>
            <a:off x="6766560" y="4389120"/>
            <a:ext cx="1920240" cy="502920"/>
          </a:xfrm>
          <a:prstGeom prst="rect">
            <a:avLst/>
          </a:prstGeom>
          <a:solidFill>
            <a:srgbClr val="55C98D">
              <a:alpha val="70000"/>
            </a:srgbClr>
          </a:solidFill>
          <a:ln w="12700">
            <a:solidFill>
              <a:srgbClr val="55C98D"/>
            </a:solidFill>
            <a:prstDash val="solid"/>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6766560" y="4389120"/>
            <a:ext cx="19202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Resolution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1AA3C9"/>
          </a:solidFill>
          <a:ln w="12700">
            <a:solidFill>
              <a:srgbClr val="1AA3C9"/>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Where Are People Happy? (World Map 2012–2017)</a:t>
            </a:r>
            <a:endParaRPr lang="en-US" sz="2000" dirty="0"/>
          </a:p>
        </p:txBody>
      </p:sp>
      <p:sp>
        <p:nvSpPr>
          <p:cNvPr id="6" name="Shape 3"/>
          <p:cNvSpPr/>
          <p:nvPr/>
        </p:nvSpPr>
        <p:spPr>
          <a:xfrm>
            <a:off x="5669280" y="713232"/>
            <a:ext cx="3246120" cy="2678038"/>
          </a:xfrm>
          <a:prstGeom prst="rect">
            <a:avLst/>
          </a:prstGeom>
          <a:solidFill>
            <a:srgbClr val="0F2557"/>
          </a:solidFill>
          <a:ln w="12700">
            <a:solidFill>
              <a:srgbClr val="0F2557">
                <a:alpha val="40000"/>
              </a:srgbClr>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4"/>
          <p:cNvSpPr/>
          <p:nvPr/>
        </p:nvSpPr>
        <p:spPr>
          <a:xfrm>
            <a:off x="5806440" y="771550"/>
            <a:ext cx="2971800" cy="2663005"/>
          </a:xfrm>
          <a:prstGeom prst="rect">
            <a:avLst/>
          </a:prstGeom>
          <a:noFill/>
          <a:ln/>
        </p:spPr>
        <p:txBody>
          <a:bodyPr wrap="square" rtlCol="0" anchor="t"/>
          <a:lstStyle/>
          <a:p>
            <a:pPr marL="0" indent="0">
              <a:buNone/>
            </a:pPr>
            <a:r>
              <a:rPr lang="en-US" sz="1400" b="1" dirty="0">
                <a:solidFill>
                  <a:srgbClr val="F5A623"/>
                </a:solidFill>
              </a:rPr>
              <a:t>Global Pattern</a:t>
            </a:r>
            <a:endParaRPr lang="en-US" sz="1400" dirty="0"/>
          </a:p>
          <a:p>
            <a:pPr marL="0" indent="0">
              <a:buNone/>
            </a:pPr>
            <a:r>
              <a:rPr lang="en-US" sz="1200" dirty="0">
                <a:solidFill>
                  <a:srgbClr val="FFFFFF"/>
                </a:solidFill>
              </a:rPr>
              <a:t>Happiness clusters geographically, it is shaped by national conditions, not chance.
</a:t>
            </a:r>
            <a:endParaRPr lang="en-US" sz="1400" dirty="0"/>
          </a:p>
          <a:p>
            <a:pPr marL="0" indent="0">
              <a:buNone/>
            </a:pPr>
            <a:r>
              <a:rPr lang="en-US" sz="1300" b="1" dirty="0">
                <a:solidFill>
                  <a:srgbClr val="1AA3C9"/>
                </a:solidFill>
              </a:rPr>
              <a:t>Darker = Happier</a:t>
            </a:r>
            <a:endParaRPr lang="en-US" sz="1400" dirty="0"/>
          </a:p>
          <a:p>
            <a:pPr marL="0" indent="0">
              <a:buNone/>
            </a:pPr>
            <a:r>
              <a:rPr lang="en-US" sz="1200" dirty="0">
                <a:solidFill>
                  <a:srgbClr val="FFFFFF"/>
                </a:solidFill>
              </a:rPr>
              <a:t>Northern Europe · North America · Oceania
</a:t>
            </a:r>
            <a:endParaRPr lang="en-US" sz="1400" dirty="0"/>
          </a:p>
          <a:p>
            <a:pPr marL="0" indent="0">
              <a:buNone/>
            </a:pPr>
            <a:r>
              <a:rPr lang="en-US" sz="1300" b="1" dirty="0">
                <a:solidFill>
                  <a:srgbClr val="E85D3B"/>
                </a:solidFill>
              </a:rPr>
              <a:t>Lighter = Less Happy</a:t>
            </a:r>
            <a:endParaRPr lang="en-US" sz="1400" dirty="0"/>
          </a:p>
          <a:p>
            <a:pPr marL="0" indent="0">
              <a:buNone/>
            </a:pPr>
            <a:r>
              <a:rPr lang="en-US" sz="1200" dirty="0">
                <a:solidFill>
                  <a:srgbClr val="FFFFFF"/>
                </a:solidFill>
              </a:rPr>
              <a:t>Sub-Saharan Africa · Conflict regions
</a:t>
            </a:r>
            <a:endParaRPr lang="en-US" sz="1400" dirty="0"/>
          </a:p>
          <a:p>
            <a:pPr marL="0" indent="0">
              <a:buNone/>
            </a:pPr>
            <a:r>
              <a:rPr lang="en-US" sz="1100" dirty="0">
                <a:solidFill>
                  <a:srgbClr val="6B8CAE"/>
                </a:solidFill>
              </a:rPr>
              <a:t>This raises the question: what explains the gap?</a:t>
            </a:r>
            <a:endParaRPr lang="en-US" sz="1400" dirty="0"/>
          </a:p>
        </p:txBody>
      </p:sp>
      <p:sp>
        <p:nvSpPr>
          <p:cNvPr id="8" name="Shape 5"/>
          <p:cNvSpPr/>
          <p:nvPr/>
        </p:nvSpPr>
        <p:spPr>
          <a:xfrm>
            <a:off x="207146" y="3440541"/>
            <a:ext cx="3876878" cy="256032"/>
          </a:xfrm>
          <a:prstGeom prst="rect">
            <a:avLst/>
          </a:prstGeom>
          <a:solidFill>
            <a:srgbClr val="0B7BA5"/>
          </a:solidFill>
          <a:ln w="12700">
            <a:solidFill>
              <a:srgbClr val="0B7BA5"/>
            </a:solidFill>
            <a:prstDash val="solid"/>
          </a:ln>
        </p:spPr>
        <p:txBody>
          <a:bodyPr/>
          <a:lstStyle/>
          <a:p>
            <a:endParaRPr lang="en-US"/>
          </a:p>
        </p:txBody>
      </p:sp>
      <p:sp>
        <p:nvSpPr>
          <p:cNvPr id="9" name="Text 6"/>
          <p:cNvSpPr/>
          <p:nvPr/>
        </p:nvSpPr>
        <p:spPr>
          <a:xfrm>
            <a:off x="967074" y="3440541"/>
            <a:ext cx="25603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Top 10 — Happiest</a:t>
            </a:r>
            <a:endParaRPr lang="en-US" sz="1100" dirty="0"/>
          </a:p>
        </p:txBody>
      </p:sp>
      <p:sp>
        <p:nvSpPr>
          <p:cNvPr id="11" name="Shape 7"/>
          <p:cNvSpPr/>
          <p:nvPr/>
        </p:nvSpPr>
        <p:spPr>
          <a:xfrm>
            <a:off x="4245817" y="3440541"/>
            <a:ext cx="4669583" cy="256032"/>
          </a:xfrm>
          <a:prstGeom prst="rect">
            <a:avLst/>
          </a:prstGeom>
          <a:solidFill>
            <a:srgbClr val="E85D3B"/>
          </a:solidFill>
          <a:ln w="12700">
            <a:solidFill>
              <a:srgbClr val="E85D3B"/>
            </a:solidFill>
            <a:prstDash val="solid"/>
          </a:ln>
        </p:spPr>
        <p:txBody>
          <a:bodyPr/>
          <a:lstStyle/>
          <a:p>
            <a:endParaRPr lang="en-US"/>
          </a:p>
        </p:txBody>
      </p:sp>
      <p:sp>
        <p:nvSpPr>
          <p:cNvPr id="12" name="Text 8"/>
          <p:cNvSpPr/>
          <p:nvPr/>
        </p:nvSpPr>
        <p:spPr>
          <a:xfrm>
            <a:off x="5478808" y="3440541"/>
            <a:ext cx="25877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Bottom 10 — Least Happy</a:t>
            </a:r>
            <a:endParaRPr lang="en-US" sz="1100" dirty="0"/>
          </a:p>
        </p:txBody>
      </p:sp>
      <p:pic>
        <p:nvPicPr>
          <p:cNvPr id="1032" name="Picture 8">
            <a:extLst>
              <a:ext uri="{FF2B5EF4-FFF2-40B4-BE49-F238E27FC236}">
                <a16:creationId xmlns:a16="http://schemas.microsoft.com/office/drawing/2014/main" id="{10BD33AF-6A1E-337F-2C29-ED11EA1AD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074" y="623145"/>
            <a:ext cx="3641672" cy="276812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30B3876E-6914-5669-F141-71BB735C1C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83" y="3745844"/>
            <a:ext cx="2841003" cy="131578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4430183-F1AA-3FAA-EC58-5E7C0DA939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8751" y="3745844"/>
            <a:ext cx="3163713" cy="1320678"/>
          </a:xfrm>
          <a:prstGeom prst="rect">
            <a:avLst/>
          </a:prstGeom>
          <a:noFill/>
          <a:extLst>
            <a:ext uri="{909E8E84-426E-40DD-AFC4-6F175D3DCCD1}">
              <a14:hiddenFill xmlns:a14="http://schemas.microsoft.com/office/drawing/2010/main">
                <a:solidFill>
                  <a:srgbClr val="FFFFFF"/>
                </a:solidFill>
              </a14:hiddenFill>
            </a:ext>
          </a:extLst>
        </p:spPr>
      </p:pic>
      <p:sp>
        <p:nvSpPr>
          <p:cNvPr id="5" name="Shape 9">
            <a:extLst>
              <a:ext uri="{FF2B5EF4-FFF2-40B4-BE49-F238E27FC236}">
                <a16:creationId xmlns:a16="http://schemas.microsoft.com/office/drawing/2014/main" id="{1558FED1-0A12-7625-54C3-C73F1ABCE6D4}"/>
              </a:ext>
            </a:extLst>
          </p:cNvPr>
          <p:cNvSpPr/>
          <p:nvPr/>
        </p:nvSpPr>
        <p:spPr>
          <a:xfrm>
            <a:off x="7579216" y="51377"/>
            <a:ext cx="1500775" cy="502920"/>
          </a:xfrm>
          <a:prstGeom prst="rect">
            <a:avLst/>
          </a:prstGeom>
          <a:solidFill>
            <a:srgbClr val="1AA3C9">
              <a:alpha val="70000"/>
            </a:srgbClr>
          </a:solidFill>
          <a:ln w="12700">
            <a:solidFill>
              <a:srgbClr val="1AA3C9"/>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0">
            <a:extLst>
              <a:ext uri="{FF2B5EF4-FFF2-40B4-BE49-F238E27FC236}">
                <a16:creationId xmlns:a16="http://schemas.microsoft.com/office/drawing/2014/main" id="{AFDD5D97-AC07-5840-0288-6D5D6EAC7C5E}"/>
              </a:ext>
            </a:extLst>
          </p:cNvPr>
          <p:cNvSpPr/>
          <p:nvPr/>
        </p:nvSpPr>
        <p:spPr>
          <a:xfrm>
            <a:off x="7579216" y="51377"/>
            <a:ext cx="1500775"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Opening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1AA3C9"/>
          </a:solidFill>
          <a:ln w="12700">
            <a:solidFill>
              <a:srgbClr val="1AA3C9"/>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Opening - How Is Happiness Distributed? (2012–2017)</a:t>
            </a:r>
            <a:endParaRPr lang="en-US" sz="2000" dirty="0"/>
          </a:p>
        </p:txBody>
      </p:sp>
      <p:sp>
        <p:nvSpPr>
          <p:cNvPr id="5" name="Shape 3"/>
          <p:cNvSpPr/>
          <p:nvPr/>
        </p:nvSpPr>
        <p:spPr>
          <a:xfrm>
            <a:off x="182880" y="713232"/>
            <a:ext cx="4251960" cy="256032"/>
          </a:xfrm>
          <a:prstGeom prst="rect">
            <a:avLst/>
          </a:prstGeom>
          <a:solidFill>
            <a:srgbClr val="0B7BA5"/>
          </a:solidFill>
          <a:ln w="12700">
            <a:solidFill>
              <a:srgbClr val="0B7BA5"/>
            </a:solidFill>
            <a:prstDash val="solid"/>
          </a:ln>
        </p:spPr>
        <p:txBody>
          <a:bodyPr/>
          <a:lstStyle/>
          <a:p>
            <a:endParaRPr lang="en-US"/>
          </a:p>
        </p:txBody>
      </p:sp>
      <p:sp>
        <p:nvSpPr>
          <p:cNvPr id="6" name="Text 4"/>
          <p:cNvSpPr/>
          <p:nvPr/>
        </p:nvSpPr>
        <p:spPr>
          <a:xfrm>
            <a:off x="18288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Happiness Distribution</a:t>
            </a:r>
            <a:endParaRPr lang="en-US" sz="1100" dirty="0"/>
          </a:p>
        </p:txBody>
      </p:sp>
      <p:sp>
        <p:nvSpPr>
          <p:cNvPr id="8" name="Shape 5"/>
          <p:cNvSpPr/>
          <p:nvPr/>
        </p:nvSpPr>
        <p:spPr>
          <a:xfrm>
            <a:off x="4663440" y="713232"/>
            <a:ext cx="4251960" cy="256032"/>
          </a:xfrm>
          <a:prstGeom prst="rect">
            <a:avLst/>
          </a:prstGeom>
          <a:solidFill>
            <a:srgbClr val="1AA3C9"/>
          </a:solidFill>
          <a:ln w="12700">
            <a:solidFill>
              <a:srgbClr val="1AA3C9"/>
            </a:solidFill>
            <a:prstDash val="solid"/>
          </a:ln>
        </p:spPr>
        <p:txBody>
          <a:bodyPr/>
          <a:lstStyle/>
          <a:p>
            <a:endParaRPr lang="en-US"/>
          </a:p>
        </p:txBody>
      </p:sp>
      <p:sp>
        <p:nvSpPr>
          <p:cNvPr id="9" name="Text 6"/>
          <p:cNvSpPr/>
          <p:nvPr/>
        </p:nvSpPr>
        <p:spPr>
          <a:xfrm>
            <a:off x="466344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Top 10 Countries by HDI</a:t>
            </a:r>
            <a:endParaRPr lang="en-US" sz="1100" dirty="0"/>
          </a:p>
        </p:txBody>
      </p:sp>
      <p:sp>
        <p:nvSpPr>
          <p:cNvPr id="11" name="Shape 7"/>
          <p:cNvSpPr/>
          <p:nvPr/>
        </p:nvSpPr>
        <p:spPr>
          <a:xfrm>
            <a:off x="0" y="4542408"/>
            <a:ext cx="9144000" cy="596520"/>
          </a:xfrm>
          <a:prstGeom prst="rect">
            <a:avLst/>
          </a:prstGeom>
          <a:solidFill>
            <a:srgbClr val="0F2557">
              <a:alpha val="92000"/>
            </a:srgbClr>
          </a:solidFill>
          <a:ln w="12700">
            <a:solidFill>
              <a:srgbClr val="0F2557">
                <a:alpha val="40000"/>
              </a:srgbClr>
            </a:solidFill>
            <a:prstDash val="solid"/>
          </a:ln>
        </p:spPr>
        <p:txBody>
          <a:bodyPr/>
          <a:lstStyle/>
          <a:p>
            <a:endParaRPr lang="en-US"/>
          </a:p>
        </p:txBody>
      </p:sp>
      <p:sp>
        <p:nvSpPr>
          <p:cNvPr id="12" name="Text 8"/>
          <p:cNvSpPr/>
          <p:nvPr/>
        </p:nvSpPr>
        <p:spPr>
          <a:xfrm>
            <a:off x="274320" y="4542408"/>
            <a:ext cx="8595360" cy="59652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Most countries fall in the middle range (45–60). </a:t>
            </a:r>
            <a:r>
              <a:rPr lang="en-US" sz="1200" dirty="0">
                <a:solidFill>
                  <a:srgbClr val="6B8CAE"/>
                </a:solidFill>
                <a:latin typeface="Calibri" pitchFamily="34" charset="0"/>
                <a:ea typeface="Calibri" pitchFamily="34" charset="-122"/>
                <a:cs typeface="Calibri" pitchFamily="34" charset="-120"/>
              </a:rPr>
              <a:t>The same nations dominate both the happiness and HDI top 10, Finland, Denmark, Switzerland, Sweden, Netherlands. </a:t>
            </a:r>
            <a:r>
              <a:rPr lang="en-US" sz="1200" b="1" dirty="0">
                <a:solidFill>
                  <a:srgbClr val="F5A623"/>
                </a:solidFill>
                <a:latin typeface="Calibri" pitchFamily="34" charset="0"/>
                <a:ea typeface="Calibri" pitchFamily="34" charset="-122"/>
                <a:cs typeface="Calibri" pitchFamily="34" charset="-120"/>
              </a:rPr>
              <a:t>Coincidence?</a:t>
            </a:r>
            <a:endParaRPr lang="en-US" sz="1200" dirty="0"/>
          </a:p>
        </p:txBody>
      </p:sp>
      <p:pic>
        <p:nvPicPr>
          <p:cNvPr id="2054" name="Picture 6">
            <a:extLst>
              <a:ext uri="{FF2B5EF4-FFF2-40B4-BE49-F238E27FC236}">
                <a16:creationId xmlns:a16="http://schemas.microsoft.com/office/drawing/2014/main" id="{73A2F190-060E-82B0-065C-6E32E958AD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005841"/>
            <a:ext cx="4300340" cy="328888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435BCD5-AB40-56EC-56F0-B0134D8CF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3440" y="1005842"/>
            <a:ext cx="4251960" cy="3198904"/>
          </a:xfrm>
          <a:prstGeom prst="rect">
            <a:avLst/>
          </a:prstGeom>
          <a:noFill/>
          <a:extLst>
            <a:ext uri="{909E8E84-426E-40DD-AFC4-6F175D3DCCD1}">
              <a14:hiddenFill xmlns:a14="http://schemas.microsoft.com/office/drawing/2010/main">
                <a:solidFill>
                  <a:srgbClr val="FFFFFF"/>
                </a:solidFill>
              </a14:hiddenFill>
            </a:ext>
          </a:extLst>
        </p:spPr>
      </p:pic>
      <p:sp>
        <p:nvSpPr>
          <p:cNvPr id="7" name="Shape 9">
            <a:extLst>
              <a:ext uri="{FF2B5EF4-FFF2-40B4-BE49-F238E27FC236}">
                <a16:creationId xmlns:a16="http://schemas.microsoft.com/office/drawing/2014/main" id="{5E7A25CD-C269-404A-1F2B-3FAE5DF05576}"/>
              </a:ext>
            </a:extLst>
          </p:cNvPr>
          <p:cNvSpPr/>
          <p:nvPr/>
        </p:nvSpPr>
        <p:spPr>
          <a:xfrm>
            <a:off x="7638202" y="36243"/>
            <a:ext cx="1441790" cy="502920"/>
          </a:xfrm>
          <a:prstGeom prst="rect">
            <a:avLst/>
          </a:prstGeom>
          <a:solidFill>
            <a:srgbClr val="1AA3C9">
              <a:alpha val="70000"/>
            </a:srgbClr>
          </a:solidFill>
          <a:ln w="12700">
            <a:solidFill>
              <a:srgbClr val="1AA3C9"/>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0">
            <a:extLst>
              <a:ext uri="{FF2B5EF4-FFF2-40B4-BE49-F238E27FC236}">
                <a16:creationId xmlns:a16="http://schemas.microsoft.com/office/drawing/2014/main" id="{815B679E-D4FB-C53F-3E99-23C7D805E176}"/>
              </a:ext>
            </a:extLst>
          </p:cNvPr>
          <p:cNvSpPr/>
          <p:nvPr/>
        </p:nvSpPr>
        <p:spPr>
          <a:xfrm>
            <a:off x="7638202" y="36243"/>
            <a:ext cx="144179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Opening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Factor 1 &amp; 2: HDI and Income vs. Happiness</a:t>
            </a:r>
            <a:endParaRPr lang="en-US" sz="2000" dirty="0"/>
          </a:p>
        </p:txBody>
      </p:sp>
      <p:sp>
        <p:nvSpPr>
          <p:cNvPr id="5" name="Shape 3"/>
          <p:cNvSpPr/>
          <p:nvPr/>
        </p:nvSpPr>
        <p:spPr>
          <a:xfrm>
            <a:off x="182880" y="713232"/>
            <a:ext cx="4251960" cy="256032"/>
          </a:xfrm>
          <a:prstGeom prst="rect">
            <a:avLst/>
          </a:prstGeom>
          <a:solidFill>
            <a:srgbClr val="0B7BA5"/>
          </a:solidFill>
          <a:ln w="12700">
            <a:solidFill>
              <a:srgbClr val="0B7BA5"/>
            </a:solidFill>
            <a:prstDash val="solid"/>
          </a:ln>
        </p:spPr>
        <p:txBody>
          <a:bodyPr/>
          <a:lstStyle/>
          <a:p>
            <a:endParaRPr lang="en-US"/>
          </a:p>
        </p:txBody>
      </p:sp>
      <p:sp>
        <p:nvSpPr>
          <p:cNvPr id="6" name="Text 4"/>
          <p:cNvSpPr/>
          <p:nvPr/>
        </p:nvSpPr>
        <p:spPr>
          <a:xfrm>
            <a:off x="18288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HDI vs. Happiness</a:t>
            </a:r>
            <a:endParaRPr lang="en-US" sz="1100" dirty="0"/>
          </a:p>
        </p:txBody>
      </p:sp>
      <p:sp>
        <p:nvSpPr>
          <p:cNvPr id="8" name="Shape 5"/>
          <p:cNvSpPr/>
          <p:nvPr/>
        </p:nvSpPr>
        <p:spPr>
          <a:xfrm>
            <a:off x="4663440" y="713232"/>
            <a:ext cx="4251960" cy="256032"/>
          </a:xfrm>
          <a:prstGeom prst="rect">
            <a:avLst/>
          </a:prstGeom>
          <a:solidFill>
            <a:srgbClr val="F5A623"/>
          </a:solidFill>
          <a:ln w="12700">
            <a:solidFill>
              <a:srgbClr val="F5A623"/>
            </a:solidFill>
            <a:prstDash val="solid"/>
          </a:ln>
        </p:spPr>
        <p:txBody>
          <a:bodyPr/>
          <a:lstStyle/>
          <a:p>
            <a:endParaRPr lang="en-US"/>
          </a:p>
        </p:txBody>
      </p:sp>
      <p:sp>
        <p:nvSpPr>
          <p:cNvPr id="9" name="Text 6"/>
          <p:cNvSpPr/>
          <p:nvPr/>
        </p:nvSpPr>
        <p:spPr>
          <a:xfrm>
            <a:off x="466344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Income vs. Happiness (log scale)</a:t>
            </a:r>
            <a:endParaRPr lang="en-US" sz="1100" dirty="0"/>
          </a:p>
        </p:txBody>
      </p:sp>
      <p:sp>
        <p:nvSpPr>
          <p:cNvPr id="11" name="Shape 7"/>
          <p:cNvSpPr/>
          <p:nvPr/>
        </p:nvSpPr>
        <p:spPr>
          <a:xfrm>
            <a:off x="0" y="4560163"/>
            <a:ext cx="9144000" cy="578765"/>
          </a:xfrm>
          <a:prstGeom prst="rect">
            <a:avLst/>
          </a:prstGeom>
          <a:solidFill>
            <a:srgbClr val="0F2557">
              <a:alpha val="92000"/>
            </a:srgbClr>
          </a:solidFill>
          <a:ln w="12700">
            <a:solidFill>
              <a:srgbClr val="0F2557">
                <a:alpha val="40000"/>
              </a:srgbClr>
            </a:solidFill>
            <a:prstDash val="solid"/>
          </a:ln>
        </p:spPr>
        <p:txBody>
          <a:bodyPr/>
          <a:lstStyle/>
          <a:p>
            <a:endParaRPr lang="en-US"/>
          </a:p>
        </p:txBody>
      </p:sp>
      <p:sp>
        <p:nvSpPr>
          <p:cNvPr id="12" name="Text 8"/>
          <p:cNvSpPr/>
          <p:nvPr/>
        </p:nvSpPr>
        <p:spPr>
          <a:xfrm>
            <a:off x="274320" y="4560163"/>
            <a:ext cx="8595360" cy="578765"/>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Both show clear positive trends. </a:t>
            </a:r>
            <a:r>
              <a:rPr lang="en-US" sz="1200" dirty="0">
                <a:solidFill>
                  <a:srgbClr val="FFFFFF"/>
                </a:solidFill>
                <a:latin typeface="Calibri" pitchFamily="34" charset="0"/>
                <a:ea typeface="Calibri" pitchFamily="34" charset="-122"/>
                <a:cs typeface="Calibri" pitchFamily="34" charset="-120"/>
              </a:rPr>
              <a:t>HDI is the stronger signal. Income matters but with diminishing returns, once basic needs are met, extra wealth adds less happiness.</a:t>
            </a:r>
            <a:endParaRPr lang="en-US" sz="1200" dirty="0"/>
          </a:p>
        </p:txBody>
      </p:sp>
      <p:pic>
        <p:nvPicPr>
          <p:cNvPr id="3074" name="Picture 2">
            <a:extLst>
              <a:ext uri="{FF2B5EF4-FFF2-40B4-BE49-F238E27FC236}">
                <a16:creationId xmlns:a16="http://schemas.microsoft.com/office/drawing/2014/main" id="{27F0E32F-EF5D-9142-F325-D1354E684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005840"/>
            <a:ext cx="4251960" cy="220210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D18FC2AD-0E8A-71C6-9CDC-0B1F3EFEE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3440" y="1005840"/>
            <a:ext cx="4254926" cy="2229745"/>
          </a:xfrm>
          <a:prstGeom prst="rect">
            <a:avLst/>
          </a:prstGeom>
          <a:noFill/>
          <a:extLst>
            <a:ext uri="{909E8E84-426E-40DD-AFC4-6F175D3DCCD1}">
              <a14:hiddenFill xmlns:a14="http://schemas.microsoft.com/office/drawing/2010/main">
                <a:solidFill>
                  <a:srgbClr val="FFFFFF"/>
                </a:solidFill>
              </a14:hiddenFill>
            </a:ext>
          </a:extLst>
        </p:spPr>
      </p:pic>
      <p:sp>
        <p:nvSpPr>
          <p:cNvPr id="7" name="Shape 11">
            <a:extLst>
              <a:ext uri="{FF2B5EF4-FFF2-40B4-BE49-F238E27FC236}">
                <a16:creationId xmlns:a16="http://schemas.microsoft.com/office/drawing/2014/main" id="{F77B09DE-4E47-8C87-D59E-3EA2EFA59223}"/>
              </a:ext>
            </a:extLst>
          </p:cNvPr>
          <p:cNvSpPr/>
          <p:nvPr/>
        </p:nvSpPr>
        <p:spPr>
          <a:xfrm>
            <a:off x="7418230" y="57504"/>
            <a:ext cx="1562207" cy="502920"/>
          </a:xfrm>
          <a:prstGeom prst="rect">
            <a:avLst/>
          </a:prstGeom>
          <a:solidFill>
            <a:srgbClr val="F5A623">
              <a:alpha val="70000"/>
            </a:srgbClr>
          </a:solidFill>
          <a:ln w="12700">
            <a:solidFill>
              <a:srgbClr val="F5A623"/>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2">
            <a:extLst>
              <a:ext uri="{FF2B5EF4-FFF2-40B4-BE49-F238E27FC236}">
                <a16:creationId xmlns:a16="http://schemas.microsoft.com/office/drawing/2014/main" id="{C7E39858-0B2F-D8CD-7FA8-43287BBAC887}"/>
              </a:ext>
            </a:extLst>
          </p:cNvPr>
          <p:cNvSpPr/>
          <p:nvPr/>
        </p:nvSpPr>
        <p:spPr>
          <a:xfrm>
            <a:off x="7418230" y="57504"/>
            <a:ext cx="1562207"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Challenge</a:t>
            </a:r>
            <a:endParaRPr lang="en-US" sz="1400" dirty="0"/>
          </a:p>
        </p:txBody>
      </p:sp>
      <p:sp>
        <p:nvSpPr>
          <p:cNvPr id="14" name="TextBox 13">
            <a:extLst>
              <a:ext uri="{FF2B5EF4-FFF2-40B4-BE49-F238E27FC236}">
                <a16:creationId xmlns:a16="http://schemas.microsoft.com/office/drawing/2014/main" id="{1C021677-9041-DDFC-47D8-1A48C140EFA0}"/>
              </a:ext>
            </a:extLst>
          </p:cNvPr>
          <p:cNvSpPr txBox="1"/>
          <p:nvPr/>
        </p:nvSpPr>
        <p:spPr>
          <a:xfrm>
            <a:off x="1065728" y="3296467"/>
            <a:ext cx="2025202" cy="646331"/>
          </a:xfrm>
          <a:prstGeom prst="rect">
            <a:avLst/>
          </a:prstGeom>
          <a:noFill/>
        </p:spPr>
        <p:txBody>
          <a:bodyPr wrap="square">
            <a:spAutoFit/>
          </a:bodyPr>
          <a:lstStyle/>
          <a:p>
            <a:pPr algn="ctr"/>
            <a:r>
              <a:rPr lang="en-US" sz="1800" b="0" i="0" u="none" strike="noStrike" dirty="0">
                <a:solidFill>
                  <a:srgbClr val="FF0000"/>
                </a:solidFill>
                <a:effectLst/>
              </a:rPr>
              <a:t>R-squared </a:t>
            </a:r>
            <a:r>
              <a:rPr lang="en-US" dirty="0">
                <a:solidFill>
                  <a:srgbClr val="FF0000"/>
                </a:solidFill>
              </a:rPr>
              <a:t>=</a:t>
            </a:r>
            <a:r>
              <a:rPr lang="en-US" sz="1800" b="0" i="0" u="none" strike="noStrike" dirty="0">
                <a:solidFill>
                  <a:srgbClr val="FF0000"/>
                </a:solidFill>
                <a:effectLst/>
              </a:rPr>
              <a:t> 0.7027</a:t>
            </a:r>
          </a:p>
          <a:p>
            <a:pPr algn="ctr"/>
            <a:r>
              <a:rPr lang="en-US" dirty="0">
                <a:solidFill>
                  <a:srgbClr val="FF0000"/>
                </a:solidFill>
              </a:rPr>
              <a:t>P-Value &lt; 0.0001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228600" y="0"/>
            <a:ext cx="89154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Factor 3 &amp; 4: Corruption and Democracy vs. Happiness</a:t>
            </a:r>
            <a:endParaRPr lang="en-US" sz="2000" dirty="0"/>
          </a:p>
        </p:txBody>
      </p:sp>
      <p:sp>
        <p:nvSpPr>
          <p:cNvPr id="5" name="Shape 3"/>
          <p:cNvSpPr/>
          <p:nvPr/>
        </p:nvSpPr>
        <p:spPr>
          <a:xfrm>
            <a:off x="182880" y="713232"/>
            <a:ext cx="4251960" cy="256032"/>
          </a:xfrm>
          <a:prstGeom prst="rect">
            <a:avLst/>
          </a:prstGeom>
          <a:solidFill>
            <a:srgbClr val="0B7BA5"/>
          </a:solidFill>
          <a:ln w="12700">
            <a:solidFill>
              <a:srgbClr val="0B7BA5"/>
            </a:solidFill>
            <a:prstDash val="solid"/>
          </a:ln>
        </p:spPr>
        <p:txBody>
          <a:bodyPr/>
          <a:lstStyle/>
          <a:p>
            <a:endParaRPr lang="en-US"/>
          </a:p>
        </p:txBody>
      </p:sp>
      <p:sp>
        <p:nvSpPr>
          <p:cNvPr id="6" name="Text 4"/>
          <p:cNvSpPr/>
          <p:nvPr/>
        </p:nvSpPr>
        <p:spPr>
          <a:xfrm>
            <a:off x="18288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CPI vs. Happiness</a:t>
            </a:r>
            <a:endParaRPr lang="en-US" sz="1100" dirty="0"/>
          </a:p>
        </p:txBody>
      </p:sp>
      <p:sp>
        <p:nvSpPr>
          <p:cNvPr id="8" name="Shape 5"/>
          <p:cNvSpPr/>
          <p:nvPr/>
        </p:nvSpPr>
        <p:spPr>
          <a:xfrm>
            <a:off x="4663440" y="713232"/>
            <a:ext cx="4251960" cy="256032"/>
          </a:xfrm>
          <a:prstGeom prst="rect">
            <a:avLst/>
          </a:prstGeom>
          <a:solidFill>
            <a:srgbClr val="E85D3B"/>
          </a:solidFill>
          <a:ln w="12700">
            <a:solidFill>
              <a:srgbClr val="E85D3B"/>
            </a:solidFill>
            <a:prstDash val="solid"/>
          </a:ln>
        </p:spPr>
        <p:txBody>
          <a:bodyPr/>
          <a:lstStyle/>
          <a:p>
            <a:endParaRPr lang="en-US"/>
          </a:p>
        </p:txBody>
      </p:sp>
      <p:sp>
        <p:nvSpPr>
          <p:cNvPr id="9" name="Text 6"/>
          <p:cNvSpPr/>
          <p:nvPr/>
        </p:nvSpPr>
        <p:spPr>
          <a:xfrm>
            <a:off x="466344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Democracy Score vs. Happiness</a:t>
            </a:r>
            <a:endParaRPr lang="en-US" sz="1100" dirty="0"/>
          </a:p>
        </p:txBody>
      </p:sp>
      <p:sp>
        <p:nvSpPr>
          <p:cNvPr id="11" name="Shape 7"/>
          <p:cNvSpPr/>
          <p:nvPr/>
        </p:nvSpPr>
        <p:spPr>
          <a:xfrm>
            <a:off x="0" y="4580878"/>
            <a:ext cx="9144000" cy="558050"/>
          </a:xfrm>
          <a:prstGeom prst="rect">
            <a:avLst/>
          </a:prstGeom>
          <a:solidFill>
            <a:srgbClr val="0F2557">
              <a:alpha val="92000"/>
            </a:srgbClr>
          </a:solidFill>
          <a:ln w="12700">
            <a:solidFill>
              <a:srgbClr val="0F2557">
                <a:alpha val="40000"/>
              </a:srgbClr>
            </a:solidFill>
            <a:prstDash val="solid"/>
          </a:ln>
        </p:spPr>
        <p:txBody>
          <a:bodyPr/>
          <a:lstStyle/>
          <a:p>
            <a:endParaRPr lang="en-US"/>
          </a:p>
        </p:txBody>
      </p:sp>
      <p:sp>
        <p:nvSpPr>
          <p:cNvPr id="12" name="Text 8"/>
          <p:cNvSpPr/>
          <p:nvPr/>
        </p:nvSpPr>
        <p:spPr>
          <a:xfrm>
            <a:off x="274320" y="4580878"/>
            <a:ext cx="8595360" cy="558050"/>
          </a:xfrm>
          <a:prstGeom prst="rect">
            <a:avLst/>
          </a:prstGeom>
          <a:noFill/>
          <a:ln/>
        </p:spPr>
        <p:txBody>
          <a:bodyPr wrap="square" rtlCol="0" anchor="ctr"/>
          <a:lstStyle/>
          <a:p>
            <a:pPr marL="0" indent="0">
              <a:buNone/>
            </a:pPr>
            <a:r>
              <a:rPr lang="en-US" sz="1200" b="1" dirty="0">
                <a:solidFill>
                  <a:srgbClr val="1AA3C9"/>
                </a:solidFill>
                <a:latin typeface="Calibri" pitchFamily="34" charset="0"/>
                <a:ea typeface="Calibri" pitchFamily="34" charset="-122"/>
                <a:cs typeface="Calibri" pitchFamily="34" charset="-120"/>
              </a:rPr>
              <a:t>Lower corruption → more happiness. </a:t>
            </a:r>
            <a:r>
              <a:rPr lang="en-US" sz="1200" dirty="0">
                <a:solidFill>
                  <a:srgbClr val="FFFFFF"/>
                </a:solidFill>
                <a:latin typeface="Calibri" pitchFamily="34" charset="0"/>
                <a:ea typeface="Calibri" pitchFamily="34" charset="-122"/>
                <a:cs typeface="Calibri" pitchFamily="34" charset="-120"/>
              </a:rPr>
              <a:t>Democracy is surprising: full democracies rank highest (66.2) but strong autocracies (61.2) beat hybrid regimes. </a:t>
            </a:r>
            <a:r>
              <a:rPr lang="en-US" sz="1200" b="1" dirty="0">
                <a:solidFill>
                  <a:srgbClr val="F5A623"/>
                </a:solidFill>
                <a:latin typeface="Calibri" pitchFamily="34" charset="0"/>
                <a:ea typeface="Calibri" pitchFamily="34" charset="-122"/>
                <a:cs typeface="Calibri" pitchFamily="34" charset="-120"/>
              </a:rPr>
              <a:t>Stability matters more than regime type.</a:t>
            </a:r>
            <a:endParaRPr lang="en-US" sz="1200" dirty="0"/>
          </a:p>
        </p:txBody>
      </p:sp>
      <p:pic>
        <p:nvPicPr>
          <p:cNvPr id="4098" name="Picture 2">
            <a:extLst>
              <a:ext uri="{FF2B5EF4-FFF2-40B4-BE49-F238E27FC236}">
                <a16:creationId xmlns:a16="http://schemas.microsoft.com/office/drawing/2014/main" id="{C78F188D-FF19-583C-3B76-9FA3F2769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005840"/>
            <a:ext cx="4251960" cy="221456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B6D43E6D-E935-2689-ABE7-97BC19670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3440" y="1005840"/>
            <a:ext cx="4206240" cy="2615418"/>
          </a:xfrm>
          <a:prstGeom prst="rect">
            <a:avLst/>
          </a:prstGeom>
          <a:noFill/>
          <a:extLst>
            <a:ext uri="{909E8E84-426E-40DD-AFC4-6F175D3DCCD1}">
              <a14:hiddenFill xmlns:a14="http://schemas.microsoft.com/office/drawing/2010/main">
                <a:solidFill>
                  <a:srgbClr val="FFFFFF"/>
                </a:solidFill>
              </a14:hiddenFill>
            </a:ext>
          </a:extLst>
        </p:spPr>
      </p:pic>
      <p:sp>
        <p:nvSpPr>
          <p:cNvPr id="7" name="Shape 11">
            <a:extLst>
              <a:ext uri="{FF2B5EF4-FFF2-40B4-BE49-F238E27FC236}">
                <a16:creationId xmlns:a16="http://schemas.microsoft.com/office/drawing/2014/main" id="{F46E58C9-A268-31FC-35D2-962F26C95814}"/>
              </a:ext>
            </a:extLst>
          </p:cNvPr>
          <p:cNvSpPr/>
          <p:nvPr/>
        </p:nvSpPr>
        <p:spPr>
          <a:xfrm>
            <a:off x="7765961" y="57504"/>
            <a:ext cx="1323946" cy="502920"/>
          </a:xfrm>
          <a:prstGeom prst="rect">
            <a:avLst/>
          </a:prstGeom>
          <a:solidFill>
            <a:srgbClr val="F5A623">
              <a:alpha val="70000"/>
            </a:srgbClr>
          </a:solidFill>
          <a:ln w="12700">
            <a:solidFill>
              <a:srgbClr val="F5A623"/>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2">
            <a:extLst>
              <a:ext uri="{FF2B5EF4-FFF2-40B4-BE49-F238E27FC236}">
                <a16:creationId xmlns:a16="http://schemas.microsoft.com/office/drawing/2014/main" id="{0E3C0187-C8CE-DFB9-6D71-34EB48226582}"/>
              </a:ext>
            </a:extLst>
          </p:cNvPr>
          <p:cNvSpPr/>
          <p:nvPr/>
        </p:nvSpPr>
        <p:spPr>
          <a:xfrm>
            <a:off x="7765961" y="57504"/>
            <a:ext cx="1323946"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Challenge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dirty="0"/>
          </a:p>
        </p:txBody>
      </p:sp>
      <p:sp>
        <p:nvSpPr>
          <p:cNvPr id="3" name="Shape 1"/>
          <p:cNvSpPr/>
          <p:nvPr/>
        </p:nvSpPr>
        <p:spPr>
          <a:xfrm>
            <a:off x="0" y="0"/>
            <a:ext cx="64008" cy="621792"/>
          </a:xfrm>
          <a:prstGeom prst="rect">
            <a:avLst/>
          </a:prstGeom>
          <a:solidFill>
            <a:srgbClr val="E85D3B"/>
          </a:solidFill>
          <a:ln w="12700">
            <a:solidFill>
              <a:srgbClr val="E85D3B"/>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Combining HDI × Income: The Multivariate Picture</a:t>
            </a:r>
            <a:endParaRPr lang="en-US" sz="2000" dirty="0"/>
          </a:p>
        </p:txBody>
      </p:sp>
      <p:sp>
        <p:nvSpPr>
          <p:cNvPr id="6" name="Shape 3"/>
          <p:cNvSpPr/>
          <p:nvPr/>
        </p:nvSpPr>
        <p:spPr>
          <a:xfrm>
            <a:off x="5989320" y="749808"/>
            <a:ext cx="2926080" cy="3840480"/>
          </a:xfrm>
          <a:prstGeom prst="rect">
            <a:avLst/>
          </a:prstGeom>
          <a:solidFill>
            <a:srgbClr val="0F2557"/>
          </a:solidFill>
          <a:ln w="12700">
            <a:solidFill>
              <a:srgbClr val="0F2557">
                <a:alpha val="40000"/>
              </a:srgbClr>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4"/>
          <p:cNvSpPr/>
          <p:nvPr/>
        </p:nvSpPr>
        <p:spPr>
          <a:xfrm>
            <a:off x="6126480" y="859536"/>
            <a:ext cx="2651760" cy="3621024"/>
          </a:xfrm>
          <a:prstGeom prst="rect">
            <a:avLst/>
          </a:prstGeom>
          <a:noFill/>
          <a:ln/>
        </p:spPr>
        <p:txBody>
          <a:bodyPr wrap="square" rtlCol="0" anchor="t"/>
          <a:lstStyle/>
          <a:p>
            <a:pPr marL="0" indent="0">
              <a:buNone/>
            </a:pPr>
            <a:r>
              <a:rPr lang="en-US" sz="2800" b="1" dirty="0">
                <a:solidFill>
                  <a:srgbClr val="55C98D"/>
                </a:solidFill>
              </a:rPr>
              <a:t>R² = 0.70
</a:t>
            </a:r>
            <a:endParaRPr lang="en-US" sz="2800" dirty="0"/>
          </a:p>
          <a:p>
            <a:pPr marL="0" indent="0">
              <a:buNone/>
            </a:pPr>
            <a:r>
              <a:rPr lang="en-US" sz="1200" dirty="0">
                <a:solidFill>
                  <a:srgbClr val="FFFFFF"/>
                </a:solidFill>
              </a:rPr>
              <a:t>HDI explains 70% of happiness variation (p &lt; 0.0001)
</a:t>
            </a:r>
            <a:endParaRPr lang="en-US" sz="2800" dirty="0"/>
          </a:p>
          <a:p>
            <a:pPr marL="0" indent="0">
              <a:buNone/>
            </a:pPr>
            <a:r>
              <a:rPr lang="en-US" sz="1200" dirty="0">
                <a:solidFill>
                  <a:srgbClr val="1AA3C9"/>
                </a:solidFill>
              </a:rPr>
              <a:t>Bubble size = Income
</a:t>
            </a:r>
            <a:endParaRPr lang="en-US" sz="2800" dirty="0"/>
          </a:p>
          <a:p>
            <a:pPr marL="0" indent="0">
              <a:buNone/>
            </a:pPr>
            <a:r>
              <a:rPr lang="en-US" sz="1200" dirty="0">
                <a:solidFill>
                  <a:srgbClr val="FFFFFF"/>
                </a:solidFill>
              </a:rPr>
              <a:t>Largest bubbles cluster top-right, high HDI AND high income = highest happiness.
</a:t>
            </a:r>
            <a:endParaRPr lang="en-US" sz="2800" dirty="0"/>
          </a:p>
          <a:p>
            <a:pPr marL="0" indent="0">
              <a:buNone/>
            </a:pPr>
            <a:r>
              <a:rPr lang="en-US" sz="1100" dirty="0">
                <a:solidFill>
                  <a:srgbClr val="6B8CAE"/>
                </a:solidFill>
              </a:rPr>
              <a:t>Development + income together are the most powerful predictors of national happiness.</a:t>
            </a:r>
            <a:endParaRPr lang="en-US" sz="2800" dirty="0"/>
          </a:p>
        </p:txBody>
      </p:sp>
      <p:pic>
        <p:nvPicPr>
          <p:cNvPr id="5122" name="Picture 2">
            <a:extLst>
              <a:ext uri="{FF2B5EF4-FFF2-40B4-BE49-F238E27FC236}">
                <a16:creationId xmlns:a16="http://schemas.microsoft.com/office/drawing/2014/main" id="{38BD352B-F079-48F6-60E6-A1601D6E8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 y="1167354"/>
            <a:ext cx="5788152" cy="3005387"/>
          </a:xfrm>
          <a:prstGeom prst="rect">
            <a:avLst/>
          </a:prstGeom>
          <a:noFill/>
          <a:extLst>
            <a:ext uri="{909E8E84-426E-40DD-AFC4-6F175D3DCCD1}">
              <a14:hiddenFill xmlns:a14="http://schemas.microsoft.com/office/drawing/2010/main">
                <a:solidFill>
                  <a:srgbClr val="FFFFFF"/>
                </a:solidFill>
              </a14:hiddenFill>
            </a:ext>
          </a:extLst>
        </p:spPr>
      </p:pic>
      <p:sp>
        <p:nvSpPr>
          <p:cNvPr id="5" name="Shape 11">
            <a:extLst>
              <a:ext uri="{FF2B5EF4-FFF2-40B4-BE49-F238E27FC236}">
                <a16:creationId xmlns:a16="http://schemas.microsoft.com/office/drawing/2014/main" id="{77EACA27-787D-567A-87A6-2B42E56F1DAE}"/>
              </a:ext>
            </a:extLst>
          </p:cNvPr>
          <p:cNvSpPr/>
          <p:nvPr/>
        </p:nvSpPr>
        <p:spPr>
          <a:xfrm>
            <a:off x="7765961" y="57504"/>
            <a:ext cx="1323946" cy="502920"/>
          </a:xfrm>
          <a:prstGeom prst="rect">
            <a:avLst/>
          </a:prstGeom>
          <a:solidFill>
            <a:srgbClr val="F5A623">
              <a:alpha val="70000"/>
            </a:srgbClr>
          </a:solidFill>
          <a:ln w="12700">
            <a:solidFill>
              <a:srgbClr val="F5A623"/>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12">
            <a:extLst>
              <a:ext uri="{FF2B5EF4-FFF2-40B4-BE49-F238E27FC236}">
                <a16:creationId xmlns:a16="http://schemas.microsoft.com/office/drawing/2014/main" id="{D433F0E8-A0BF-6034-BDCB-62034A937118}"/>
              </a:ext>
            </a:extLst>
          </p:cNvPr>
          <p:cNvSpPr/>
          <p:nvPr/>
        </p:nvSpPr>
        <p:spPr>
          <a:xfrm>
            <a:off x="7765961" y="57504"/>
            <a:ext cx="1323946"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Challenge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6439" y="6439"/>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E85D3B"/>
          </a:solidFill>
          <a:ln w="12700">
            <a:solidFill>
              <a:srgbClr val="E85D3B"/>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Change over Time: Happiness &amp; Income (2012–2017)</a:t>
            </a:r>
            <a:endParaRPr lang="en-US" sz="2000" dirty="0"/>
          </a:p>
        </p:txBody>
      </p:sp>
      <p:sp>
        <p:nvSpPr>
          <p:cNvPr id="5" name="Shape 3"/>
          <p:cNvSpPr/>
          <p:nvPr/>
        </p:nvSpPr>
        <p:spPr>
          <a:xfrm>
            <a:off x="182880" y="713232"/>
            <a:ext cx="4251960" cy="256032"/>
          </a:xfrm>
          <a:prstGeom prst="rect">
            <a:avLst/>
          </a:prstGeom>
          <a:solidFill>
            <a:srgbClr val="0B7BA5"/>
          </a:solidFill>
          <a:ln w="12700">
            <a:solidFill>
              <a:srgbClr val="0B7BA5"/>
            </a:solidFill>
            <a:prstDash val="solid"/>
          </a:ln>
        </p:spPr>
        <p:txBody>
          <a:bodyPr/>
          <a:lstStyle/>
          <a:p>
            <a:endParaRPr lang="en-US"/>
          </a:p>
        </p:txBody>
      </p:sp>
      <p:sp>
        <p:nvSpPr>
          <p:cNvPr id="6" name="Text 4"/>
          <p:cNvSpPr/>
          <p:nvPr/>
        </p:nvSpPr>
        <p:spPr>
          <a:xfrm>
            <a:off x="18288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Happiness Trend</a:t>
            </a:r>
            <a:endParaRPr lang="en-US" sz="1100" dirty="0"/>
          </a:p>
        </p:txBody>
      </p:sp>
      <p:sp>
        <p:nvSpPr>
          <p:cNvPr id="8" name="Shape 5"/>
          <p:cNvSpPr/>
          <p:nvPr/>
        </p:nvSpPr>
        <p:spPr>
          <a:xfrm>
            <a:off x="4663440" y="713232"/>
            <a:ext cx="4251960" cy="256032"/>
          </a:xfrm>
          <a:prstGeom prst="rect">
            <a:avLst/>
          </a:prstGeom>
          <a:solidFill>
            <a:srgbClr val="F5A623"/>
          </a:solidFill>
          <a:ln w="12700">
            <a:solidFill>
              <a:srgbClr val="F5A623"/>
            </a:solidFill>
            <a:prstDash val="solid"/>
          </a:ln>
        </p:spPr>
        <p:txBody>
          <a:bodyPr/>
          <a:lstStyle/>
          <a:p>
            <a:endParaRPr lang="en-US"/>
          </a:p>
        </p:txBody>
      </p:sp>
      <p:sp>
        <p:nvSpPr>
          <p:cNvPr id="9" name="Text 6"/>
          <p:cNvSpPr/>
          <p:nvPr/>
        </p:nvSpPr>
        <p:spPr>
          <a:xfrm>
            <a:off x="466344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Income per Person</a:t>
            </a:r>
            <a:endParaRPr lang="en-US" sz="1100" dirty="0"/>
          </a:p>
        </p:txBody>
      </p:sp>
      <p:sp>
        <p:nvSpPr>
          <p:cNvPr id="11" name="Shape 7"/>
          <p:cNvSpPr/>
          <p:nvPr/>
        </p:nvSpPr>
        <p:spPr>
          <a:xfrm>
            <a:off x="0" y="4566082"/>
            <a:ext cx="9144000" cy="572846"/>
          </a:xfrm>
          <a:prstGeom prst="rect">
            <a:avLst/>
          </a:prstGeom>
          <a:solidFill>
            <a:srgbClr val="0F2557">
              <a:alpha val="92000"/>
            </a:srgbClr>
          </a:solidFill>
          <a:ln w="12700">
            <a:solidFill>
              <a:srgbClr val="0F2557">
                <a:alpha val="40000"/>
              </a:srgbClr>
            </a:solidFill>
            <a:prstDash val="solid"/>
          </a:ln>
        </p:spPr>
        <p:txBody>
          <a:bodyPr/>
          <a:lstStyle/>
          <a:p>
            <a:endParaRPr lang="en-US"/>
          </a:p>
        </p:txBody>
      </p:sp>
      <p:sp>
        <p:nvSpPr>
          <p:cNvPr id="12" name="Text 8"/>
          <p:cNvSpPr/>
          <p:nvPr/>
        </p:nvSpPr>
        <p:spPr>
          <a:xfrm>
            <a:off x="274320" y="4566082"/>
            <a:ext cx="8595360" cy="572846"/>
          </a:xfrm>
          <a:prstGeom prst="rect">
            <a:avLst/>
          </a:prstGeom>
          <a:noFill/>
          <a:ln/>
        </p:spPr>
        <p:txBody>
          <a:bodyPr wrap="square" rtlCol="0" anchor="ctr"/>
          <a:lstStyle/>
          <a:p>
            <a:pPr marL="0" indent="0">
              <a:buNone/>
            </a:pPr>
            <a:r>
              <a:rPr lang="en-US" sz="1200" b="1" dirty="0">
                <a:solidFill>
                  <a:srgbClr val="E85D3B"/>
                </a:solidFill>
                <a:latin typeface="Calibri" pitchFamily="34" charset="0"/>
                <a:ea typeface="Calibri" pitchFamily="34" charset="-122"/>
                <a:cs typeface="Calibri" pitchFamily="34" charset="-120"/>
              </a:rPr>
              <a:t>Venezuela: </a:t>
            </a:r>
            <a:r>
              <a:rPr lang="en-US" sz="1200" dirty="0">
                <a:solidFill>
                  <a:srgbClr val="FFFFFF"/>
                </a:solidFill>
                <a:latin typeface="Calibri" pitchFamily="34" charset="0"/>
                <a:ea typeface="Calibri" pitchFamily="34" charset="-122"/>
                <a:cs typeface="Calibri" pitchFamily="34" charset="-120"/>
              </a:rPr>
              <a:t>happiness and income crash simultaneously from 2014, institutional decay in real time. Denmark stays near the top; South Korea steadily climbs. Afghanistan anchors the bottom throughout.</a:t>
            </a:r>
            <a:endParaRPr lang="en-US" sz="1200" dirty="0"/>
          </a:p>
        </p:txBody>
      </p:sp>
      <p:pic>
        <p:nvPicPr>
          <p:cNvPr id="13" name="Picture 2">
            <a:extLst>
              <a:ext uri="{FF2B5EF4-FFF2-40B4-BE49-F238E27FC236}">
                <a16:creationId xmlns:a16="http://schemas.microsoft.com/office/drawing/2014/main" id="{D402C0B0-AF19-455C-4AC5-AF88DC319C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005840"/>
            <a:ext cx="4251960" cy="296165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9EB1DFEF-784A-D032-D14E-A516E7950C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3440" y="1005840"/>
            <a:ext cx="4251962" cy="2443884"/>
          </a:xfrm>
          <a:prstGeom prst="rect">
            <a:avLst/>
          </a:prstGeom>
          <a:noFill/>
          <a:extLst>
            <a:ext uri="{909E8E84-426E-40DD-AFC4-6F175D3DCCD1}">
              <a14:hiddenFill xmlns:a14="http://schemas.microsoft.com/office/drawing/2010/main">
                <a:solidFill>
                  <a:srgbClr val="FFFFFF"/>
                </a:solidFill>
              </a14:hiddenFill>
            </a:ext>
          </a:extLst>
        </p:spPr>
      </p:pic>
      <p:sp>
        <p:nvSpPr>
          <p:cNvPr id="7" name="Shape 13">
            <a:extLst>
              <a:ext uri="{FF2B5EF4-FFF2-40B4-BE49-F238E27FC236}">
                <a16:creationId xmlns:a16="http://schemas.microsoft.com/office/drawing/2014/main" id="{E0389FA6-9E7C-39D9-B9B4-BF5EBB082A66}"/>
              </a:ext>
            </a:extLst>
          </p:cNvPr>
          <p:cNvSpPr/>
          <p:nvPr/>
        </p:nvSpPr>
        <p:spPr>
          <a:xfrm>
            <a:off x="7482624" y="59436"/>
            <a:ext cx="1597367" cy="502920"/>
          </a:xfrm>
          <a:prstGeom prst="rect">
            <a:avLst/>
          </a:prstGeom>
          <a:solidFill>
            <a:srgbClr val="E85D3B">
              <a:alpha val="70000"/>
            </a:srgbClr>
          </a:solidFill>
          <a:ln w="12700">
            <a:solidFill>
              <a:srgbClr val="E85D3B"/>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4">
            <a:extLst>
              <a:ext uri="{FF2B5EF4-FFF2-40B4-BE49-F238E27FC236}">
                <a16:creationId xmlns:a16="http://schemas.microsoft.com/office/drawing/2014/main" id="{765D4163-E049-835A-4E0C-EFBD834418C4}"/>
              </a:ext>
            </a:extLst>
          </p:cNvPr>
          <p:cNvSpPr/>
          <p:nvPr/>
        </p:nvSpPr>
        <p:spPr>
          <a:xfrm>
            <a:off x="7482624" y="59436"/>
            <a:ext cx="1597367"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E85D3B"/>
          </a:solidFill>
          <a:ln w="12700">
            <a:solidFill>
              <a:srgbClr val="E85D3B"/>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Corruption over Time &amp; The Safety Paradox</a:t>
            </a:r>
            <a:endParaRPr lang="en-US" sz="2000" dirty="0"/>
          </a:p>
        </p:txBody>
      </p:sp>
      <p:sp>
        <p:nvSpPr>
          <p:cNvPr id="5" name="Shape 3"/>
          <p:cNvSpPr/>
          <p:nvPr/>
        </p:nvSpPr>
        <p:spPr>
          <a:xfrm>
            <a:off x="182880" y="713232"/>
            <a:ext cx="4251960" cy="256032"/>
          </a:xfrm>
          <a:prstGeom prst="rect">
            <a:avLst/>
          </a:prstGeom>
          <a:solidFill>
            <a:srgbClr val="0B7BA5"/>
          </a:solidFill>
          <a:ln w="12700">
            <a:solidFill>
              <a:srgbClr val="0B7BA5"/>
            </a:solidFill>
            <a:prstDash val="solid"/>
          </a:ln>
        </p:spPr>
        <p:txBody>
          <a:bodyPr/>
          <a:lstStyle/>
          <a:p>
            <a:endParaRPr lang="en-US"/>
          </a:p>
        </p:txBody>
      </p:sp>
      <p:sp>
        <p:nvSpPr>
          <p:cNvPr id="6" name="Text 4"/>
          <p:cNvSpPr/>
          <p:nvPr/>
        </p:nvSpPr>
        <p:spPr>
          <a:xfrm>
            <a:off x="18288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CPI over Time</a:t>
            </a:r>
            <a:endParaRPr lang="en-US" sz="1100" dirty="0"/>
          </a:p>
        </p:txBody>
      </p:sp>
      <p:sp>
        <p:nvSpPr>
          <p:cNvPr id="8" name="Shape 5"/>
          <p:cNvSpPr/>
          <p:nvPr/>
        </p:nvSpPr>
        <p:spPr>
          <a:xfrm>
            <a:off x="4663440" y="713232"/>
            <a:ext cx="4251960" cy="256032"/>
          </a:xfrm>
          <a:prstGeom prst="rect">
            <a:avLst/>
          </a:prstGeom>
          <a:solidFill>
            <a:srgbClr val="E85D3B"/>
          </a:solidFill>
          <a:ln w="12700">
            <a:solidFill>
              <a:srgbClr val="E85D3B"/>
            </a:solidFill>
            <a:prstDash val="solid"/>
          </a:ln>
        </p:spPr>
        <p:txBody>
          <a:bodyPr/>
          <a:lstStyle/>
          <a:p>
            <a:endParaRPr lang="en-US"/>
          </a:p>
        </p:txBody>
      </p:sp>
      <p:sp>
        <p:nvSpPr>
          <p:cNvPr id="9" name="Text 6"/>
          <p:cNvSpPr/>
          <p:nvPr/>
        </p:nvSpPr>
        <p:spPr>
          <a:xfrm>
            <a:off x="4663440" y="713232"/>
            <a:ext cx="4251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Murder vs. Suicide Rate over Time</a:t>
            </a:r>
            <a:endParaRPr lang="en-US" sz="1100" dirty="0"/>
          </a:p>
        </p:txBody>
      </p:sp>
      <p:sp>
        <p:nvSpPr>
          <p:cNvPr id="11" name="Shape 7"/>
          <p:cNvSpPr/>
          <p:nvPr/>
        </p:nvSpPr>
        <p:spPr>
          <a:xfrm>
            <a:off x="0" y="4551285"/>
            <a:ext cx="9144000" cy="587643"/>
          </a:xfrm>
          <a:prstGeom prst="rect">
            <a:avLst/>
          </a:prstGeom>
          <a:solidFill>
            <a:srgbClr val="0F2557">
              <a:alpha val="92000"/>
            </a:srgbClr>
          </a:solidFill>
          <a:ln w="12700">
            <a:solidFill>
              <a:srgbClr val="0F2557">
                <a:alpha val="40000"/>
              </a:srgbClr>
            </a:solidFill>
            <a:prstDash val="solid"/>
          </a:ln>
        </p:spPr>
        <p:txBody>
          <a:bodyPr/>
          <a:lstStyle/>
          <a:p>
            <a:endParaRPr lang="en-US"/>
          </a:p>
        </p:txBody>
      </p:sp>
      <p:sp>
        <p:nvSpPr>
          <p:cNvPr id="12" name="Text 8"/>
          <p:cNvSpPr/>
          <p:nvPr/>
        </p:nvSpPr>
        <p:spPr>
          <a:xfrm>
            <a:off x="274320" y="4551285"/>
            <a:ext cx="8595360" cy="587643"/>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Corruption barely moves, it is deeply systemic. </a:t>
            </a:r>
            <a:r>
              <a:rPr lang="en-US" sz="1200" b="1" dirty="0">
                <a:solidFill>
                  <a:srgbClr val="F5A623"/>
                </a:solidFill>
                <a:latin typeface="Calibri" pitchFamily="34" charset="0"/>
                <a:ea typeface="Calibri" pitchFamily="34" charset="-122"/>
                <a:cs typeface="Calibri" pitchFamily="34" charset="-120"/>
              </a:rPr>
              <a:t>The prosperity paradox: </a:t>
            </a:r>
            <a:r>
              <a:rPr lang="en-US" sz="1200" dirty="0">
                <a:solidFill>
                  <a:srgbClr val="6B8CAE"/>
                </a:solidFill>
                <a:latin typeface="Calibri" pitchFamily="34" charset="0"/>
                <a:ea typeface="Calibri" pitchFamily="34" charset="-122"/>
                <a:cs typeface="Calibri" pitchFamily="34" charset="-120"/>
              </a:rPr>
              <a:t>South Korea leads suicide rates despite high HDI, wealth prevents violence but not internal pressure.</a:t>
            </a:r>
            <a:endParaRPr lang="en-US" sz="1200" dirty="0"/>
          </a:p>
        </p:txBody>
      </p:sp>
      <p:pic>
        <p:nvPicPr>
          <p:cNvPr id="13" name="Picture 2">
            <a:extLst>
              <a:ext uri="{FF2B5EF4-FFF2-40B4-BE49-F238E27FC236}">
                <a16:creationId xmlns:a16="http://schemas.microsoft.com/office/drawing/2014/main" id="{48E9F915-AC05-BC61-BB2A-033E50453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005840"/>
            <a:ext cx="4251960" cy="294366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a:extLst>
              <a:ext uri="{FF2B5EF4-FFF2-40B4-BE49-F238E27FC236}">
                <a16:creationId xmlns:a16="http://schemas.microsoft.com/office/drawing/2014/main" id="{BFE6815D-D37A-3910-1E3C-08ED3B2F42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3440" y="1005841"/>
            <a:ext cx="4251960" cy="3427462"/>
          </a:xfrm>
          <a:prstGeom prst="rect">
            <a:avLst/>
          </a:prstGeom>
          <a:noFill/>
          <a:extLst>
            <a:ext uri="{909E8E84-426E-40DD-AFC4-6F175D3DCCD1}">
              <a14:hiddenFill xmlns:a14="http://schemas.microsoft.com/office/drawing/2010/main">
                <a:solidFill>
                  <a:srgbClr val="FFFFFF"/>
                </a:solidFill>
              </a14:hiddenFill>
            </a:ext>
          </a:extLst>
        </p:spPr>
      </p:pic>
      <p:sp>
        <p:nvSpPr>
          <p:cNvPr id="7" name="Shape 13">
            <a:extLst>
              <a:ext uri="{FF2B5EF4-FFF2-40B4-BE49-F238E27FC236}">
                <a16:creationId xmlns:a16="http://schemas.microsoft.com/office/drawing/2014/main" id="{899BF9E0-31DB-4DA9-8D9C-26B3DD17E03B}"/>
              </a:ext>
            </a:extLst>
          </p:cNvPr>
          <p:cNvSpPr/>
          <p:nvPr/>
        </p:nvSpPr>
        <p:spPr>
          <a:xfrm>
            <a:off x="7482624" y="59436"/>
            <a:ext cx="1597367" cy="502920"/>
          </a:xfrm>
          <a:prstGeom prst="rect">
            <a:avLst/>
          </a:prstGeom>
          <a:solidFill>
            <a:srgbClr val="E85D3B">
              <a:alpha val="70000"/>
            </a:srgbClr>
          </a:solidFill>
          <a:ln w="12700">
            <a:solidFill>
              <a:srgbClr val="E85D3B"/>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14">
            <a:extLst>
              <a:ext uri="{FF2B5EF4-FFF2-40B4-BE49-F238E27FC236}">
                <a16:creationId xmlns:a16="http://schemas.microsoft.com/office/drawing/2014/main" id="{B29A4A56-3D5B-E1EF-EC2D-83DC3787D96A}"/>
              </a:ext>
            </a:extLst>
          </p:cNvPr>
          <p:cNvSpPr/>
          <p:nvPr/>
        </p:nvSpPr>
        <p:spPr>
          <a:xfrm>
            <a:off x="7482624" y="59436"/>
            <a:ext cx="1597367"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E85D3B"/>
          </a:solidFill>
          <a:ln w="12700">
            <a:solidFill>
              <a:srgbClr val="E85D3B"/>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HDI over Time: Development Trajectories (2012–2017)</a:t>
            </a:r>
            <a:endParaRPr lang="en-US" sz="2000" dirty="0"/>
          </a:p>
        </p:txBody>
      </p:sp>
      <p:sp>
        <p:nvSpPr>
          <p:cNvPr id="6" name="Shape 3"/>
          <p:cNvSpPr/>
          <p:nvPr/>
        </p:nvSpPr>
        <p:spPr>
          <a:xfrm>
            <a:off x="6080760" y="749808"/>
            <a:ext cx="2834640" cy="3840480"/>
          </a:xfrm>
          <a:prstGeom prst="rect">
            <a:avLst/>
          </a:prstGeom>
          <a:solidFill>
            <a:srgbClr val="0F2557"/>
          </a:solidFill>
          <a:ln w="12700">
            <a:solidFill>
              <a:srgbClr val="0F2557">
                <a:alpha val="40000"/>
              </a:srgbClr>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4"/>
          <p:cNvSpPr/>
          <p:nvPr/>
        </p:nvSpPr>
        <p:spPr>
          <a:xfrm>
            <a:off x="6217920" y="859536"/>
            <a:ext cx="2560320" cy="3621024"/>
          </a:xfrm>
          <a:prstGeom prst="rect">
            <a:avLst/>
          </a:prstGeom>
          <a:noFill/>
          <a:ln/>
        </p:spPr>
        <p:txBody>
          <a:bodyPr wrap="square" rtlCol="0" anchor="t"/>
          <a:lstStyle/>
          <a:p>
            <a:pPr marL="0" indent="0">
              <a:buNone/>
            </a:pPr>
            <a:r>
              <a:rPr lang="en-US" sz="1400" b="1" dirty="0">
                <a:solidFill>
                  <a:srgbClr val="F5A623"/>
                </a:solidFill>
              </a:rPr>
              <a:t>Five Archetypes
</a:t>
            </a:r>
            <a:endParaRPr lang="en-US" sz="1400" dirty="0"/>
          </a:p>
          <a:p>
            <a:pPr marL="0" indent="0">
              <a:buNone/>
            </a:pPr>
            <a:r>
              <a:rPr lang="en-US" sz="1200" b="1" dirty="0">
                <a:solidFill>
                  <a:srgbClr val="1AA3C9"/>
                </a:solidFill>
              </a:rPr>
              <a:t>Denmark / US</a:t>
            </a:r>
            <a:endParaRPr lang="en-US" sz="1400" dirty="0"/>
          </a:p>
          <a:p>
            <a:pPr marL="0" indent="0">
              <a:buNone/>
            </a:pPr>
            <a:r>
              <a:rPr lang="en-US" sz="1100" dirty="0">
                <a:solidFill>
                  <a:srgbClr val="FFFFFF"/>
                </a:solidFill>
              </a:rPr>
              <a:t>Slow, stable growth: mature democracies
</a:t>
            </a:r>
            <a:endParaRPr lang="en-US" sz="1400" dirty="0"/>
          </a:p>
          <a:p>
            <a:pPr marL="0" indent="0">
              <a:buNone/>
            </a:pPr>
            <a:r>
              <a:rPr lang="en-US" sz="1200" b="1" dirty="0">
                <a:solidFill>
                  <a:srgbClr val="1AA3C9"/>
                </a:solidFill>
              </a:rPr>
              <a:t>South Korea</a:t>
            </a:r>
            <a:endParaRPr lang="en-US" sz="1400" dirty="0"/>
          </a:p>
          <a:p>
            <a:pPr marL="0" indent="0">
              <a:buNone/>
            </a:pPr>
            <a:r>
              <a:rPr lang="en-US" sz="1100" dirty="0">
                <a:solidFill>
                  <a:srgbClr val="FFFFFF"/>
                </a:solidFill>
              </a:rPr>
              <a:t>slight upward climb
</a:t>
            </a:r>
            <a:endParaRPr lang="en-US" sz="1400" dirty="0"/>
          </a:p>
          <a:p>
            <a:pPr marL="0" indent="0">
              <a:buNone/>
            </a:pPr>
            <a:r>
              <a:rPr lang="en-US" sz="1200" b="1" dirty="0">
                <a:solidFill>
                  <a:srgbClr val="E85D3B"/>
                </a:solidFill>
              </a:rPr>
              <a:t>Venezuela</a:t>
            </a:r>
            <a:endParaRPr lang="en-US" sz="1400" dirty="0"/>
          </a:p>
          <a:p>
            <a:pPr marL="0" indent="0">
              <a:buNone/>
            </a:pPr>
            <a:r>
              <a:rPr lang="en-US" sz="1100" dirty="0">
                <a:solidFill>
                  <a:srgbClr val="FFFFFF"/>
                </a:solidFill>
              </a:rPr>
              <a:t>HDI flatlines mid-decade: a leading indicator of collapse before the economy fully crashed
</a:t>
            </a:r>
            <a:endParaRPr lang="en-US" sz="1400" dirty="0"/>
          </a:p>
          <a:p>
            <a:pPr marL="0" indent="0">
              <a:buNone/>
            </a:pPr>
            <a:r>
              <a:rPr lang="en-US" sz="1200" b="1" dirty="0">
                <a:solidFill>
                  <a:srgbClr val="6B8CAE"/>
                </a:solidFill>
              </a:rPr>
              <a:t>Afghanistan</a:t>
            </a:r>
            <a:endParaRPr lang="en-US" sz="1400" dirty="0"/>
          </a:p>
          <a:p>
            <a:pPr marL="0" indent="0">
              <a:buNone/>
            </a:pPr>
            <a:r>
              <a:rPr lang="en-US" sz="1100" dirty="0">
                <a:solidFill>
                  <a:srgbClr val="FFFFFF"/>
                </a:solidFill>
              </a:rPr>
              <a:t>Persistently low throughout</a:t>
            </a:r>
            <a:endParaRPr lang="en-US" sz="1400" dirty="0"/>
          </a:p>
        </p:txBody>
      </p:sp>
      <p:pic>
        <p:nvPicPr>
          <p:cNvPr id="8" name="Picture 2">
            <a:extLst>
              <a:ext uri="{FF2B5EF4-FFF2-40B4-BE49-F238E27FC236}">
                <a16:creationId xmlns:a16="http://schemas.microsoft.com/office/drawing/2014/main" id="{B59DF888-E48A-C551-9444-DE0A51ABB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 y="749808"/>
            <a:ext cx="5943600" cy="4143375"/>
          </a:xfrm>
          <a:prstGeom prst="rect">
            <a:avLst/>
          </a:prstGeom>
          <a:noFill/>
          <a:extLst>
            <a:ext uri="{909E8E84-426E-40DD-AFC4-6F175D3DCCD1}">
              <a14:hiddenFill xmlns:a14="http://schemas.microsoft.com/office/drawing/2010/main">
                <a:solidFill>
                  <a:srgbClr val="FFFFFF"/>
                </a:solidFill>
              </a14:hiddenFill>
            </a:ext>
          </a:extLst>
        </p:spPr>
      </p:pic>
      <p:sp>
        <p:nvSpPr>
          <p:cNvPr id="5" name="Shape 13">
            <a:extLst>
              <a:ext uri="{FF2B5EF4-FFF2-40B4-BE49-F238E27FC236}">
                <a16:creationId xmlns:a16="http://schemas.microsoft.com/office/drawing/2014/main" id="{8C2592C2-4D0B-78BC-6E21-E9CDB2F3FC6C}"/>
              </a:ext>
            </a:extLst>
          </p:cNvPr>
          <p:cNvSpPr/>
          <p:nvPr/>
        </p:nvSpPr>
        <p:spPr>
          <a:xfrm>
            <a:off x="7675808" y="59436"/>
            <a:ext cx="1404183" cy="502920"/>
          </a:xfrm>
          <a:prstGeom prst="rect">
            <a:avLst/>
          </a:prstGeom>
          <a:solidFill>
            <a:srgbClr val="E85D3B">
              <a:alpha val="70000"/>
            </a:srgbClr>
          </a:solidFill>
          <a:ln w="12700">
            <a:solidFill>
              <a:srgbClr val="E85D3B"/>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14">
            <a:extLst>
              <a:ext uri="{FF2B5EF4-FFF2-40B4-BE49-F238E27FC236}">
                <a16:creationId xmlns:a16="http://schemas.microsoft.com/office/drawing/2014/main" id="{F5BA79E4-DE79-4A95-6AFF-427E42961DEA}"/>
              </a:ext>
            </a:extLst>
          </p:cNvPr>
          <p:cNvSpPr/>
          <p:nvPr/>
        </p:nvSpPr>
        <p:spPr>
          <a:xfrm>
            <a:off x="7675808" y="59436"/>
            <a:ext cx="1404183"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F2557"/>
          </a:solidFill>
          <a:ln w="12700">
            <a:solidFill>
              <a:srgbClr val="0F2557"/>
            </a:solidFill>
            <a:prstDash val="solid"/>
          </a:ln>
        </p:spPr>
        <p:txBody>
          <a:bodyPr/>
          <a:lstStyle/>
          <a:p>
            <a:endParaRPr lang="en-US"/>
          </a:p>
        </p:txBody>
      </p:sp>
      <p:sp>
        <p:nvSpPr>
          <p:cNvPr id="3" name="Shape 1"/>
          <p:cNvSpPr/>
          <p:nvPr/>
        </p:nvSpPr>
        <p:spPr>
          <a:xfrm>
            <a:off x="0" y="0"/>
            <a:ext cx="64008" cy="621792"/>
          </a:xfrm>
          <a:prstGeom prst="rect">
            <a:avLst/>
          </a:prstGeom>
          <a:solidFill>
            <a:srgbClr val="55C98D"/>
          </a:solidFill>
          <a:ln w="12700">
            <a:solidFill>
              <a:srgbClr val="55C98D"/>
            </a:solidFill>
            <a:prstDash val="solid"/>
          </a:ln>
        </p:spPr>
        <p:txBody>
          <a:bodyPr/>
          <a:lstStyle/>
          <a:p>
            <a:endParaRPr lang="en-US"/>
          </a:p>
        </p:txBody>
      </p:sp>
      <p:sp>
        <p:nvSpPr>
          <p:cNvPr id="4" name="Text 2"/>
          <p:cNvSpPr/>
          <p:nvPr/>
        </p:nvSpPr>
        <p:spPr>
          <a:xfrm>
            <a:off x="228600" y="0"/>
            <a:ext cx="8686800" cy="621792"/>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The Hierarchy of Happiness Drivers</a:t>
            </a:r>
            <a:endParaRPr lang="en-US" sz="2000" dirty="0"/>
          </a:p>
        </p:txBody>
      </p:sp>
      <p:sp>
        <p:nvSpPr>
          <p:cNvPr id="5" name="Shape 3"/>
          <p:cNvSpPr/>
          <p:nvPr/>
        </p:nvSpPr>
        <p:spPr>
          <a:xfrm>
            <a:off x="228600" y="749808"/>
            <a:ext cx="1965960" cy="2743200"/>
          </a:xfrm>
          <a:prstGeom prst="rect">
            <a:avLst/>
          </a:prstGeom>
          <a:solidFill>
            <a:srgbClr val="0F2557"/>
          </a:solidFill>
          <a:ln w="12700">
            <a:solidFill>
              <a:srgbClr val="F5A623"/>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640080" y="822960"/>
            <a:ext cx="1143000" cy="658368"/>
          </a:xfrm>
          <a:prstGeom prst="ellipse">
            <a:avLst/>
          </a:prstGeom>
          <a:solidFill>
            <a:srgbClr val="F5A623"/>
          </a:solidFill>
          <a:ln w="12700">
            <a:solidFill>
              <a:srgbClr val="F5A623"/>
            </a:solidFill>
            <a:prstDash val="solid"/>
          </a:ln>
        </p:spPr>
        <p:txBody>
          <a:bodyPr/>
          <a:lstStyle/>
          <a:p>
            <a:endParaRPr lang="en-US"/>
          </a:p>
        </p:txBody>
      </p:sp>
      <p:sp>
        <p:nvSpPr>
          <p:cNvPr id="7" name="Text 5"/>
          <p:cNvSpPr/>
          <p:nvPr/>
        </p:nvSpPr>
        <p:spPr>
          <a:xfrm>
            <a:off x="640080" y="822960"/>
            <a:ext cx="1143000" cy="658368"/>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228600" y="1554480"/>
            <a:ext cx="1965960" cy="457200"/>
          </a:xfrm>
          <a:prstGeom prst="rect">
            <a:avLst/>
          </a:prstGeom>
          <a:noFill/>
          <a:ln/>
        </p:spPr>
        <p:txBody>
          <a:bodyPr wrap="square" rtlCol="0" anchor="ctr"/>
          <a:lstStyle/>
          <a:p>
            <a:pPr marL="0" indent="0" algn="ctr">
              <a:buNone/>
            </a:pPr>
            <a:r>
              <a:rPr lang="en-US" sz="1400" b="1" dirty="0">
                <a:solidFill>
                  <a:srgbClr val="F5A623"/>
                </a:solidFill>
                <a:latin typeface="Calibri" pitchFamily="34" charset="0"/>
                <a:ea typeface="Calibri" pitchFamily="34" charset="-122"/>
                <a:cs typeface="Calibri" pitchFamily="34" charset="-120"/>
              </a:rPr>
              <a:t>HDI</a:t>
            </a:r>
            <a:endParaRPr lang="en-US" sz="1400" dirty="0"/>
          </a:p>
        </p:txBody>
      </p:sp>
      <p:sp>
        <p:nvSpPr>
          <p:cNvPr id="9" name="Text 7"/>
          <p:cNvSpPr/>
          <p:nvPr/>
        </p:nvSpPr>
        <p:spPr>
          <a:xfrm>
            <a:off x="228600" y="2011680"/>
            <a:ext cx="1965960" cy="320040"/>
          </a:xfrm>
          <a:prstGeom prst="rect">
            <a:avLst/>
          </a:prstGeom>
          <a:noFill/>
          <a:ln/>
        </p:spPr>
        <p:txBody>
          <a:bodyPr wrap="square" rtlCol="0" anchor="ctr"/>
          <a:lstStyle/>
          <a:p>
            <a:pPr marL="0" indent="0" algn="ctr">
              <a:buNone/>
            </a:pPr>
            <a:r>
              <a:rPr lang="en-US" sz="1100" dirty="0">
                <a:solidFill>
                  <a:srgbClr val="6B8CAE"/>
                </a:solidFill>
                <a:latin typeface="Calibri" pitchFamily="34" charset="0"/>
                <a:ea typeface="Calibri" pitchFamily="34" charset="-122"/>
                <a:cs typeface="Calibri" pitchFamily="34" charset="-120"/>
              </a:rPr>
              <a:t>R² = 0.70</a:t>
            </a:r>
            <a:endParaRPr lang="en-US" sz="1100" dirty="0"/>
          </a:p>
        </p:txBody>
      </p:sp>
      <p:sp>
        <p:nvSpPr>
          <p:cNvPr id="10" name="Text 8"/>
          <p:cNvSpPr/>
          <p:nvPr/>
        </p:nvSpPr>
        <p:spPr>
          <a:xfrm>
            <a:off x="228600" y="2331720"/>
            <a:ext cx="1965960" cy="320040"/>
          </a:xfrm>
          <a:prstGeom prst="rect">
            <a:avLst/>
          </a:prstGeom>
          <a:noFill/>
          <a:ln/>
        </p:spPr>
        <p:txBody>
          <a:bodyPr wrap="square" rtlCol="0" anchor="ctr"/>
          <a:lstStyle/>
          <a:p>
            <a:pPr marL="0" indent="0" algn="ctr">
              <a:buNone/>
            </a:pPr>
            <a:r>
              <a:rPr lang="en-US" sz="1200" dirty="0">
                <a:solidFill>
                  <a:srgbClr val="F5A623"/>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404872" y="749808"/>
            <a:ext cx="1965960" cy="2743200"/>
          </a:xfrm>
          <a:prstGeom prst="rect">
            <a:avLst/>
          </a:prstGeom>
          <a:solidFill>
            <a:srgbClr val="0F2557"/>
          </a:solidFill>
          <a:ln w="12700">
            <a:solidFill>
              <a:srgbClr val="0B7BA5"/>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816352" y="822960"/>
            <a:ext cx="1143000" cy="658368"/>
          </a:xfrm>
          <a:prstGeom prst="ellipse">
            <a:avLst/>
          </a:prstGeom>
          <a:solidFill>
            <a:srgbClr val="0B7BA5"/>
          </a:solidFill>
          <a:ln w="12700">
            <a:solidFill>
              <a:srgbClr val="0B7BA5"/>
            </a:solidFill>
            <a:prstDash val="solid"/>
          </a:ln>
        </p:spPr>
        <p:txBody>
          <a:bodyPr/>
          <a:lstStyle/>
          <a:p>
            <a:endParaRPr lang="en-US"/>
          </a:p>
        </p:txBody>
      </p:sp>
      <p:sp>
        <p:nvSpPr>
          <p:cNvPr id="13" name="Text 11"/>
          <p:cNvSpPr/>
          <p:nvPr/>
        </p:nvSpPr>
        <p:spPr>
          <a:xfrm>
            <a:off x="2816352" y="822960"/>
            <a:ext cx="1143000" cy="658368"/>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2404872" y="1554480"/>
            <a:ext cx="1965960" cy="457200"/>
          </a:xfrm>
          <a:prstGeom prst="rect">
            <a:avLst/>
          </a:prstGeom>
          <a:noFill/>
          <a:ln/>
        </p:spPr>
        <p:txBody>
          <a:bodyPr wrap="square" rtlCol="0" anchor="ctr"/>
          <a:lstStyle/>
          <a:p>
            <a:pPr marL="0" indent="0" algn="ctr">
              <a:buNone/>
            </a:pPr>
            <a:r>
              <a:rPr lang="en-US" sz="1400" b="1" dirty="0">
                <a:solidFill>
                  <a:srgbClr val="0B7BA5"/>
                </a:solidFill>
                <a:latin typeface="Calibri" pitchFamily="34" charset="0"/>
                <a:ea typeface="Calibri" pitchFamily="34" charset="-122"/>
                <a:cs typeface="Calibri" pitchFamily="34" charset="-120"/>
              </a:rPr>
              <a:t>Income</a:t>
            </a:r>
            <a:endParaRPr lang="en-US" sz="1400" dirty="0"/>
          </a:p>
        </p:txBody>
      </p:sp>
      <p:sp>
        <p:nvSpPr>
          <p:cNvPr id="15" name="Text 13"/>
          <p:cNvSpPr/>
          <p:nvPr/>
        </p:nvSpPr>
        <p:spPr>
          <a:xfrm>
            <a:off x="2404872" y="2011680"/>
            <a:ext cx="1965960" cy="320040"/>
          </a:xfrm>
          <a:prstGeom prst="rect">
            <a:avLst/>
          </a:prstGeom>
          <a:noFill/>
          <a:ln/>
        </p:spPr>
        <p:txBody>
          <a:bodyPr wrap="square" rtlCol="0" anchor="ctr"/>
          <a:lstStyle/>
          <a:p>
            <a:pPr marL="0" indent="0" algn="ctr">
              <a:buNone/>
            </a:pPr>
            <a:r>
              <a:rPr lang="en-US" sz="1100" dirty="0">
                <a:solidFill>
                  <a:srgbClr val="6B8CAE"/>
                </a:solidFill>
                <a:latin typeface="Calibri" pitchFamily="34" charset="0"/>
                <a:ea typeface="Calibri" pitchFamily="34" charset="-122"/>
                <a:cs typeface="Calibri" pitchFamily="34" charset="-120"/>
              </a:rPr>
              <a:t>Strong positive</a:t>
            </a:r>
            <a:endParaRPr lang="en-US" sz="1100" dirty="0"/>
          </a:p>
        </p:txBody>
      </p:sp>
      <p:sp>
        <p:nvSpPr>
          <p:cNvPr id="16" name="Text 14"/>
          <p:cNvSpPr/>
          <p:nvPr/>
        </p:nvSpPr>
        <p:spPr>
          <a:xfrm>
            <a:off x="2404872" y="2331720"/>
            <a:ext cx="1965960" cy="320040"/>
          </a:xfrm>
          <a:prstGeom prst="rect">
            <a:avLst/>
          </a:prstGeom>
          <a:noFill/>
          <a:ln/>
        </p:spPr>
        <p:txBody>
          <a:bodyPr wrap="square" rtlCol="0" anchor="ctr"/>
          <a:lstStyle/>
          <a:p>
            <a:pPr marL="0" indent="0" algn="ctr">
              <a:buNone/>
            </a:pPr>
            <a:r>
              <a:rPr lang="en-US" sz="1200" dirty="0">
                <a:solidFill>
                  <a:srgbClr val="0B7BA5"/>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4581144" y="749808"/>
            <a:ext cx="1965960" cy="2743200"/>
          </a:xfrm>
          <a:prstGeom prst="rect">
            <a:avLst/>
          </a:prstGeom>
          <a:solidFill>
            <a:srgbClr val="0F2557"/>
          </a:solidFill>
          <a:ln w="12700">
            <a:solidFill>
              <a:srgbClr val="E85D3B"/>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4992624" y="822960"/>
            <a:ext cx="1143000" cy="658368"/>
          </a:xfrm>
          <a:prstGeom prst="ellipse">
            <a:avLst/>
          </a:prstGeom>
          <a:solidFill>
            <a:srgbClr val="E85D3B"/>
          </a:solidFill>
          <a:ln w="12700">
            <a:solidFill>
              <a:srgbClr val="E85D3B"/>
            </a:solidFill>
            <a:prstDash val="solid"/>
          </a:ln>
        </p:spPr>
        <p:txBody>
          <a:bodyPr/>
          <a:lstStyle/>
          <a:p>
            <a:endParaRPr lang="en-US"/>
          </a:p>
        </p:txBody>
      </p:sp>
      <p:sp>
        <p:nvSpPr>
          <p:cNvPr id="19" name="Text 17"/>
          <p:cNvSpPr/>
          <p:nvPr/>
        </p:nvSpPr>
        <p:spPr>
          <a:xfrm>
            <a:off x="4992624" y="822960"/>
            <a:ext cx="1143000" cy="658368"/>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20" name="Text 18"/>
          <p:cNvSpPr/>
          <p:nvPr/>
        </p:nvSpPr>
        <p:spPr>
          <a:xfrm>
            <a:off x="4581144" y="1554480"/>
            <a:ext cx="1965960" cy="457200"/>
          </a:xfrm>
          <a:prstGeom prst="rect">
            <a:avLst/>
          </a:prstGeom>
          <a:noFill/>
          <a:ln/>
        </p:spPr>
        <p:txBody>
          <a:bodyPr wrap="square" rtlCol="0" anchor="ctr"/>
          <a:lstStyle/>
          <a:p>
            <a:pPr marL="0" indent="0" algn="ctr">
              <a:buNone/>
            </a:pPr>
            <a:r>
              <a:rPr lang="en-US" sz="1400" b="1" dirty="0">
                <a:solidFill>
                  <a:srgbClr val="E85D3B"/>
                </a:solidFill>
                <a:latin typeface="Calibri" pitchFamily="34" charset="0"/>
                <a:ea typeface="Calibri" pitchFamily="34" charset="-122"/>
                <a:cs typeface="Calibri" pitchFamily="34" charset="-120"/>
              </a:rPr>
              <a:t>Corruption (CPI)</a:t>
            </a:r>
            <a:endParaRPr lang="en-US" sz="1400" dirty="0"/>
          </a:p>
        </p:txBody>
      </p:sp>
      <p:sp>
        <p:nvSpPr>
          <p:cNvPr id="21" name="Text 19"/>
          <p:cNvSpPr/>
          <p:nvPr/>
        </p:nvSpPr>
        <p:spPr>
          <a:xfrm>
            <a:off x="4581144" y="2011680"/>
            <a:ext cx="1965960" cy="320040"/>
          </a:xfrm>
          <a:prstGeom prst="rect">
            <a:avLst/>
          </a:prstGeom>
          <a:noFill/>
          <a:ln/>
        </p:spPr>
        <p:txBody>
          <a:bodyPr wrap="square" rtlCol="0" anchor="ctr"/>
          <a:lstStyle/>
          <a:p>
            <a:pPr marL="0" indent="0" algn="ctr">
              <a:buNone/>
            </a:pPr>
            <a:r>
              <a:rPr lang="en-US" sz="1100" dirty="0">
                <a:solidFill>
                  <a:srgbClr val="6B8CAE"/>
                </a:solidFill>
                <a:latin typeface="Calibri" pitchFamily="34" charset="0"/>
                <a:ea typeface="Calibri" pitchFamily="34" charset="-122"/>
                <a:cs typeface="Calibri" pitchFamily="34" charset="-120"/>
              </a:rPr>
              <a:t>Meaningful link</a:t>
            </a:r>
            <a:endParaRPr lang="en-US" sz="1100" dirty="0"/>
          </a:p>
        </p:txBody>
      </p:sp>
      <p:sp>
        <p:nvSpPr>
          <p:cNvPr id="22" name="Text 20"/>
          <p:cNvSpPr/>
          <p:nvPr/>
        </p:nvSpPr>
        <p:spPr>
          <a:xfrm>
            <a:off x="4581144" y="2331720"/>
            <a:ext cx="1965960" cy="320040"/>
          </a:xfrm>
          <a:prstGeom prst="rect">
            <a:avLst/>
          </a:prstGeom>
          <a:noFill/>
          <a:ln/>
        </p:spPr>
        <p:txBody>
          <a:bodyPr wrap="square" rtlCol="0" anchor="ctr"/>
          <a:lstStyle/>
          <a:p>
            <a:pPr marL="0" indent="0" algn="ctr">
              <a:buNone/>
            </a:pPr>
            <a:r>
              <a:rPr lang="en-US" sz="1200" dirty="0">
                <a:solidFill>
                  <a:srgbClr val="E85D3B"/>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6757416" y="749808"/>
            <a:ext cx="1965960" cy="2743200"/>
          </a:xfrm>
          <a:prstGeom prst="rect">
            <a:avLst/>
          </a:prstGeom>
          <a:solidFill>
            <a:srgbClr val="0F2557"/>
          </a:solidFill>
          <a:ln w="12700">
            <a:solidFill>
              <a:srgbClr val="6B8CAE"/>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7168896" y="822960"/>
            <a:ext cx="1143000" cy="658368"/>
          </a:xfrm>
          <a:prstGeom prst="ellipse">
            <a:avLst/>
          </a:prstGeom>
          <a:solidFill>
            <a:srgbClr val="6B8CAE"/>
          </a:solidFill>
          <a:ln w="12700">
            <a:solidFill>
              <a:srgbClr val="6B8CAE"/>
            </a:solidFill>
            <a:prstDash val="solid"/>
          </a:ln>
        </p:spPr>
        <p:txBody>
          <a:bodyPr/>
          <a:lstStyle/>
          <a:p>
            <a:endParaRPr lang="en-US"/>
          </a:p>
        </p:txBody>
      </p:sp>
      <p:sp>
        <p:nvSpPr>
          <p:cNvPr id="25" name="Text 23"/>
          <p:cNvSpPr/>
          <p:nvPr/>
        </p:nvSpPr>
        <p:spPr>
          <a:xfrm>
            <a:off x="7168896" y="822960"/>
            <a:ext cx="1143000" cy="658368"/>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#4</a:t>
            </a:r>
            <a:endParaRPr lang="en-US" sz="2600" dirty="0"/>
          </a:p>
        </p:txBody>
      </p:sp>
      <p:sp>
        <p:nvSpPr>
          <p:cNvPr id="26" name="Text 24"/>
          <p:cNvSpPr/>
          <p:nvPr/>
        </p:nvSpPr>
        <p:spPr>
          <a:xfrm>
            <a:off x="6757416" y="1554480"/>
            <a:ext cx="1965960" cy="457200"/>
          </a:xfrm>
          <a:prstGeom prst="rect">
            <a:avLst/>
          </a:prstGeom>
          <a:noFill/>
          <a:ln/>
        </p:spPr>
        <p:txBody>
          <a:bodyPr wrap="square" rtlCol="0" anchor="ctr"/>
          <a:lstStyle/>
          <a:p>
            <a:pPr marL="0" indent="0" algn="ctr">
              <a:buNone/>
            </a:pPr>
            <a:r>
              <a:rPr lang="en-US" sz="1400" b="1" dirty="0">
                <a:solidFill>
                  <a:srgbClr val="6B8CAE"/>
                </a:solidFill>
                <a:latin typeface="Calibri" pitchFamily="34" charset="0"/>
                <a:ea typeface="Calibri" pitchFamily="34" charset="-122"/>
                <a:cs typeface="Calibri" pitchFamily="34" charset="-120"/>
              </a:rPr>
              <a:t>Democracy</a:t>
            </a:r>
            <a:endParaRPr lang="en-US" sz="1400" dirty="0"/>
          </a:p>
        </p:txBody>
      </p:sp>
      <p:sp>
        <p:nvSpPr>
          <p:cNvPr id="27" name="Text 25"/>
          <p:cNvSpPr/>
          <p:nvPr/>
        </p:nvSpPr>
        <p:spPr>
          <a:xfrm>
            <a:off x="6757416" y="2011680"/>
            <a:ext cx="1965960" cy="320040"/>
          </a:xfrm>
          <a:prstGeom prst="rect">
            <a:avLst/>
          </a:prstGeom>
          <a:noFill/>
          <a:ln/>
        </p:spPr>
        <p:txBody>
          <a:bodyPr wrap="square" rtlCol="0" anchor="ctr"/>
          <a:lstStyle/>
          <a:p>
            <a:pPr marL="0" indent="0" algn="ctr">
              <a:buNone/>
            </a:pPr>
            <a:r>
              <a:rPr lang="en-US" sz="1100" dirty="0">
                <a:solidFill>
                  <a:srgbClr val="6B8CAE"/>
                </a:solidFill>
                <a:latin typeface="Calibri" pitchFamily="34" charset="0"/>
                <a:ea typeface="Calibri" pitchFamily="34" charset="-122"/>
                <a:cs typeface="Calibri" pitchFamily="34" charset="-120"/>
              </a:rPr>
              <a:t>Non-linear</a:t>
            </a:r>
            <a:endParaRPr lang="en-US" sz="1100" dirty="0"/>
          </a:p>
        </p:txBody>
      </p:sp>
      <p:sp>
        <p:nvSpPr>
          <p:cNvPr id="28" name="Text 26"/>
          <p:cNvSpPr/>
          <p:nvPr/>
        </p:nvSpPr>
        <p:spPr>
          <a:xfrm>
            <a:off x="6757416" y="2331720"/>
            <a:ext cx="1965960" cy="320040"/>
          </a:xfrm>
          <a:prstGeom prst="rect">
            <a:avLst/>
          </a:prstGeom>
          <a:noFill/>
          <a:ln/>
        </p:spPr>
        <p:txBody>
          <a:bodyPr wrap="square" rtlCol="0" anchor="ctr"/>
          <a:lstStyle/>
          <a:p>
            <a:pPr marL="0" indent="0" algn="ctr">
              <a:buNone/>
            </a:pPr>
            <a:r>
              <a:rPr lang="en-US" sz="1200" dirty="0">
                <a:solidFill>
                  <a:srgbClr val="6B8CAE"/>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228600" y="3639312"/>
            <a:ext cx="8686800" cy="1261872"/>
          </a:xfrm>
          <a:prstGeom prst="rect">
            <a:avLst/>
          </a:prstGeom>
          <a:solidFill>
            <a:srgbClr val="0F2557"/>
          </a:solidFill>
          <a:ln w="12700">
            <a:solidFill>
              <a:srgbClr val="55C98D"/>
            </a:solidFill>
            <a:prstDash val="solid"/>
          </a:ln>
          <a:effectLst>
            <a:outerShdw blurRad="101600" dist="38100" dir="8100000" algn="bl" rotWithShape="0">
              <a:srgbClr val="000000">
                <a:alpha val="12000"/>
              </a:srgbClr>
            </a:outerShdw>
          </a:effectLst>
        </p:spPr>
        <p:txBody>
          <a:bodyPr/>
          <a:lstStyle/>
          <a:p>
            <a:endParaRPr lang="en-US"/>
          </a:p>
        </p:txBody>
      </p:sp>
      <p:sp>
        <p:nvSpPr>
          <p:cNvPr id="30" name="Text 28"/>
          <p:cNvSpPr/>
          <p:nvPr/>
        </p:nvSpPr>
        <p:spPr>
          <a:xfrm>
            <a:off x="411480" y="3712464"/>
            <a:ext cx="8321040" cy="1097280"/>
          </a:xfrm>
          <a:prstGeom prst="rect">
            <a:avLst/>
          </a:prstGeom>
          <a:noFill/>
          <a:ln/>
        </p:spPr>
        <p:txBody>
          <a:bodyPr wrap="square" rtlCol="0" anchor="ctr"/>
          <a:lstStyle/>
          <a:p>
            <a:pPr marL="0" indent="0">
              <a:buNone/>
            </a:pPr>
            <a:r>
              <a:rPr lang="en-US" sz="1400" b="1" dirty="0">
                <a:solidFill>
                  <a:srgbClr val="55C98D"/>
                </a:solidFill>
                <a:latin typeface="Calibri" pitchFamily="34" charset="0"/>
                <a:ea typeface="Calibri" pitchFamily="34" charset="-122"/>
                <a:cs typeface="Calibri" pitchFamily="34" charset="-120"/>
              </a:rPr>
              <a:t>Core Finding: </a:t>
            </a:r>
            <a:r>
              <a:rPr lang="en-US" sz="1300" dirty="0">
                <a:solidFill>
                  <a:srgbClr val="FFFFFF"/>
                </a:solidFill>
                <a:latin typeface="Calibri" pitchFamily="34" charset="0"/>
                <a:ea typeface="Calibri" pitchFamily="34" charset="-122"/>
                <a:cs typeface="Calibri" pitchFamily="34" charset="-120"/>
              </a:rPr>
              <a:t>National happiness is most powerfully driven by human development (health, education, living standards) and economic welfare. Countries that invest in these, while maintaining institutional integrity, consistently achieve the highest happiness scores. Governance stability matters more than regime type alone.</a:t>
            </a:r>
            <a:endParaRPr lang="en-US" sz="1400" dirty="0"/>
          </a:p>
        </p:txBody>
      </p:sp>
      <p:sp>
        <p:nvSpPr>
          <p:cNvPr id="31" name="Shape 15">
            <a:extLst>
              <a:ext uri="{FF2B5EF4-FFF2-40B4-BE49-F238E27FC236}">
                <a16:creationId xmlns:a16="http://schemas.microsoft.com/office/drawing/2014/main" id="{D22AD0C3-9039-E1F9-1F48-959598D7B80D}"/>
              </a:ext>
            </a:extLst>
          </p:cNvPr>
          <p:cNvSpPr/>
          <p:nvPr/>
        </p:nvSpPr>
        <p:spPr>
          <a:xfrm>
            <a:off x="7109460" y="68580"/>
            <a:ext cx="1920240" cy="502920"/>
          </a:xfrm>
          <a:prstGeom prst="rect">
            <a:avLst/>
          </a:prstGeom>
          <a:solidFill>
            <a:srgbClr val="55C98D">
              <a:alpha val="70000"/>
            </a:srgbClr>
          </a:solidFill>
          <a:ln w="12700">
            <a:solidFill>
              <a:srgbClr val="55C98D"/>
            </a:solidFill>
            <a:prstDash val="solid"/>
          </a:ln>
          <a:effectLst>
            <a:outerShdw blurRad="101600" dist="38100" dir="8100000" algn="bl" rotWithShape="0">
              <a:srgbClr val="000000">
                <a:alpha val="12000"/>
              </a:srgbClr>
            </a:outerShdw>
          </a:effectLst>
        </p:spPr>
        <p:txBody>
          <a:bodyPr/>
          <a:lstStyle/>
          <a:p>
            <a:endParaRPr lang="en-US"/>
          </a:p>
        </p:txBody>
      </p:sp>
      <p:sp>
        <p:nvSpPr>
          <p:cNvPr id="32" name="Text 16">
            <a:extLst>
              <a:ext uri="{FF2B5EF4-FFF2-40B4-BE49-F238E27FC236}">
                <a16:creationId xmlns:a16="http://schemas.microsoft.com/office/drawing/2014/main" id="{2A465E2D-F7B0-CADF-08A3-19C34231A819}"/>
              </a:ext>
            </a:extLst>
          </p:cNvPr>
          <p:cNvSpPr/>
          <p:nvPr/>
        </p:nvSpPr>
        <p:spPr>
          <a:xfrm>
            <a:off x="7109460" y="68580"/>
            <a:ext cx="19202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Resolution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557"/>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55C98D"/>
          </a:solidFill>
          <a:ln w="12700">
            <a:solidFill>
              <a:srgbClr val="55C98D"/>
            </a:solidFill>
            <a:prstDash val="solid"/>
          </a:ln>
        </p:spPr>
        <p:txBody>
          <a:bodyPr/>
          <a:lstStyle/>
          <a:p>
            <a:endParaRPr lang="en-US"/>
          </a:p>
        </p:txBody>
      </p:sp>
      <p:sp>
        <p:nvSpPr>
          <p:cNvPr id="3" name="Shape 1"/>
          <p:cNvSpPr/>
          <p:nvPr/>
        </p:nvSpPr>
        <p:spPr>
          <a:xfrm>
            <a:off x="6858000" y="-274320"/>
            <a:ext cx="2926080" cy="2926080"/>
          </a:xfrm>
          <a:prstGeom prst="ellipse">
            <a:avLst/>
          </a:prstGeom>
          <a:solidFill>
            <a:srgbClr val="55C98D">
              <a:alpha val="15000"/>
            </a:srgbClr>
          </a:solidFill>
          <a:ln w="12700">
            <a:solidFill>
              <a:srgbClr val="55C98D">
                <a:alpha val="30000"/>
              </a:srgbClr>
            </a:solidFill>
            <a:prstDash val="solid"/>
          </a:ln>
        </p:spPr>
        <p:txBody>
          <a:bodyPr/>
          <a:lstStyle/>
          <a:p>
            <a:endParaRPr lang="en-US"/>
          </a:p>
        </p:txBody>
      </p:sp>
      <p:sp>
        <p:nvSpPr>
          <p:cNvPr id="4" name="Text 2"/>
          <p:cNvSpPr/>
          <p:nvPr/>
        </p:nvSpPr>
        <p:spPr>
          <a:xfrm>
            <a:off x="320040" y="457200"/>
            <a:ext cx="3657600" cy="365760"/>
          </a:xfrm>
          <a:prstGeom prst="rect">
            <a:avLst/>
          </a:prstGeom>
          <a:noFill/>
          <a:ln/>
        </p:spPr>
        <p:txBody>
          <a:bodyPr wrap="square" rtlCol="0" anchor="ctr"/>
          <a:lstStyle/>
          <a:p>
            <a:pPr marL="0" indent="0">
              <a:buNone/>
            </a:pPr>
            <a:r>
              <a:rPr lang="en-US" sz="1300" b="1" kern="0" spc="300" dirty="0">
                <a:solidFill>
                  <a:srgbClr val="55C98D"/>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320040" y="868680"/>
            <a:ext cx="7772400" cy="105156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Happiness is Built, Not Born</a:t>
            </a:r>
            <a:endParaRPr lang="en-US" sz="3800" dirty="0"/>
          </a:p>
        </p:txBody>
      </p:sp>
      <p:sp>
        <p:nvSpPr>
          <p:cNvPr id="6" name="Shape 4"/>
          <p:cNvSpPr/>
          <p:nvPr/>
        </p:nvSpPr>
        <p:spPr>
          <a:xfrm>
            <a:off x="320040" y="1965960"/>
            <a:ext cx="3200400" cy="36576"/>
          </a:xfrm>
          <a:prstGeom prst="rect">
            <a:avLst/>
          </a:prstGeom>
          <a:solidFill>
            <a:srgbClr val="55C98D"/>
          </a:solidFill>
          <a:ln w="12700">
            <a:solidFill>
              <a:srgbClr val="55C98D"/>
            </a:solidFill>
            <a:prstDash val="solid"/>
          </a:ln>
        </p:spPr>
        <p:txBody>
          <a:bodyPr/>
          <a:lstStyle/>
          <a:p>
            <a:endParaRPr lang="en-US"/>
          </a:p>
        </p:txBody>
      </p:sp>
      <p:sp>
        <p:nvSpPr>
          <p:cNvPr id="7" name="Shape 5"/>
          <p:cNvSpPr/>
          <p:nvPr/>
        </p:nvSpPr>
        <p:spPr>
          <a:xfrm>
            <a:off x="320040" y="2176272"/>
            <a:ext cx="201168" cy="201168"/>
          </a:xfrm>
          <a:prstGeom prst="ellipse">
            <a:avLst/>
          </a:prstGeom>
          <a:solidFill>
            <a:srgbClr val="55C98D"/>
          </a:solidFill>
          <a:ln w="12700">
            <a:solidFill>
              <a:srgbClr val="55C98D"/>
            </a:solidFill>
            <a:prstDash val="solid"/>
          </a:ln>
        </p:spPr>
        <p:txBody>
          <a:bodyPr/>
          <a:lstStyle/>
          <a:p>
            <a:endParaRPr lang="en-US"/>
          </a:p>
        </p:txBody>
      </p:sp>
      <p:sp>
        <p:nvSpPr>
          <p:cNvPr id="8" name="Text 6"/>
          <p:cNvSpPr/>
          <p:nvPr/>
        </p:nvSpPr>
        <p:spPr>
          <a:xfrm>
            <a:off x="603504" y="2130552"/>
            <a:ext cx="8046720" cy="40233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HDI (health, education, living standards) is the strongest predictor: R² = 0.70</a:t>
            </a:r>
            <a:endParaRPr lang="en-US" sz="1300" dirty="0"/>
          </a:p>
        </p:txBody>
      </p:sp>
      <p:sp>
        <p:nvSpPr>
          <p:cNvPr id="9" name="Shape 7"/>
          <p:cNvSpPr/>
          <p:nvPr/>
        </p:nvSpPr>
        <p:spPr>
          <a:xfrm>
            <a:off x="320040" y="2679192"/>
            <a:ext cx="201168" cy="201168"/>
          </a:xfrm>
          <a:prstGeom prst="ellipse">
            <a:avLst/>
          </a:prstGeom>
          <a:solidFill>
            <a:srgbClr val="55C98D"/>
          </a:solidFill>
          <a:ln w="12700">
            <a:solidFill>
              <a:srgbClr val="55C98D"/>
            </a:solidFill>
            <a:prstDash val="solid"/>
          </a:ln>
        </p:spPr>
        <p:txBody>
          <a:bodyPr/>
          <a:lstStyle/>
          <a:p>
            <a:endParaRPr lang="en-US"/>
          </a:p>
        </p:txBody>
      </p:sp>
      <p:sp>
        <p:nvSpPr>
          <p:cNvPr id="10" name="Text 8"/>
          <p:cNvSpPr/>
          <p:nvPr/>
        </p:nvSpPr>
        <p:spPr>
          <a:xfrm>
            <a:off x="603504" y="2633472"/>
            <a:ext cx="8046720" cy="40233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Income matters significantly, but with diminishing returns at higher wealth levels</a:t>
            </a:r>
            <a:endParaRPr lang="en-US" sz="1300" dirty="0"/>
          </a:p>
        </p:txBody>
      </p:sp>
      <p:sp>
        <p:nvSpPr>
          <p:cNvPr id="11" name="Shape 9"/>
          <p:cNvSpPr/>
          <p:nvPr/>
        </p:nvSpPr>
        <p:spPr>
          <a:xfrm>
            <a:off x="320040" y="3182112"/>
            <a:ext cx="201168" cy="201168"/>
          </a:xfrm>
          <a:prstGeom prst="ellipse">
            <a:avLst/>
          </a:prstGeom>
          <a:solidFill>
            <a:srgbClr val="55C98D"/>
          </a:solidFill>
          <a:ln w="12700">
            <a:solidFill>
              <a:srgbClr val="55C98D"/>
            </a:solidFill>
            <a:prstDash val="solid"/>
          </a:ln>
        </p:spPr>
        <p:txBody>
          <a:bodyPr/>
          <a:lstStyle/>
          <a:p>
            <a:endParaRPr lang="en-US"/>
          </a:p>
        </p:txBody>
      </p:sp>
      <p:sp>
        <p:nvSpPr>
          <p:cNvPr id="12" name="Text 10"/>
          <p:cNvSpPr/>
          <p:nvPr/>
        </p:nvSpPr>
        <p:spPr>
          <a:xfrm>
            <a:off x="603504" y="3136392"/>
            <a:ext cx="8046720" cy="40233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Corruption erodes happiness; transparency and public trust are critical</a:t>
            </a:r>
            <a:endParaRPr lang="en-US" sz="1300" dirty="0"/>
          </a:p>
        </p:txBody>
      </p:sp>
      <p:sp>
        <p:nvSpPr>
          <p:cNvPr id="13" name="Shape 11"/>
          <p:cNvSpPr/>
          <p:nvPr/>
        </p:nvSpPr>
        <p:spPr>
          <a:xfrm>
            <a:off x="320040" y="3685032"/>
            <a:ext cx="201168" cy="201168"/>
          </a:xfrm>
          <a:prstGeom prst="ellipse">
            <a:avLst/>
          </a:prstGeom>
          <a:solidFill>
            <a:srgbClr val="55C98D"/>
          </a:solidFill>
          <a:ln w="12700">
            <a:solidFill>
              <a:srgbClr val="55C98D"/>
            </a:solidFill>
            <a:prstDash val="solid"/>
          </a:ln>
        </p:spPr>
        <p:txBody>
          <a:bodyPr/>
          <a:lstStyle/>
          <a:p>
            <a:endParaRPr lang="en-US"/>
          </a:p>
        </p:txBody>
      </p:sp>
      <p:sp>
        <p:nvSpPr>
          <p:cNvPr id="14" name="Text 12"/>
          <p:cNvSpPr/>
          <p:nvPr/>
        </p:nvSpPr>
        <p:spPr>
          <a:xfrm>
            <a:off x="603504" y="3639312"/>
            <a:ext cx="8046720" cy="40233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Stability trumps regime type — institutional decay destroys well-being rapidly</a:t>
            </a:r>
            <a:endParaRPr lang="en-US" sz="1300" dirty="0"/>
          </a:p>
        </p:txBody>
      </p:sp>
      <p:sp>
        <p:nvSpPr>
          <p:cNvPr id="15" name="Shape 13"/>
          <p:cNvSpPr/>
          <p:nvPr/>
        </p:nvSpPr>
        <p:spPr>
          <a:xfrm>
            <a:off x="320040" y="4187952"/>
            <a:ext cx="201168" cy="201168"/>
          </a:xfrm>
          <a:prstGeom prst="ellipse">
            <a:avLst/>
          </a:prstGeom>
          <a:solidFill>
            <a:srgbClr val="55C98D"/>
          </a:solidFill>
          <a:ln w="12700">
            <a:solidFill>
              <a:srgbClr val="55C98D"/>
            </a:solidFill>
            <a:prstDash val="solid"/>
          </a:ln>
        </p:spPr>
        <p:txBody>
          <a:bodyPr/>
          <a:lstStyle/>
          <a:p>
            <a:endParaRPr lang="en-US"/>
          </a:p>
        </p:txBody>
      </p:sp>
      <p:sp>
        <p:nvSpPr>
          <p:cNvPr id="16" name="Text 14"/>
          <p:cNvSpPr/>
          <p:nvPr/>
        </p:nvSpPr>
        <p:spPr>
          <a:xfrm>
            <a:off x="603504" y="4142232"/>
            <a:ext cx="8046720" cy="40233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prosperity paradox: high development does not automatically prevent mental health crises</a:t>
            </a:r>
            <a:endParaRPr lang="en-US" sz="1300" dirty="0"/>
          </a:p>
        </p:txBody>
      </p:sp>
      <p:sp>
        <p:nvSpPr>
          <p:cNvPr id="17" name="Text 15"/>
          <p:cNvSpPr/>
          <p:nvPr/>
        </p:nvSpPr>
        <p:spPr>
          <a:xfrm>
            <a:off x="320040" y="4800600"/>
            <a:ext cx="8229600" cy="256032"/>
          </a:xfrm>
          <a:prstGeom prst="rect">
            <a:avLst/>
          </a:prstGeom>
          <a:noFill/>
          <a:ln/>
        </p:spPr>
        <p:txBody>
          <a:bodyPr wrap="square" rtlCol="0" anchor="ctr"/>
          <a:lstStyle/>
          <a:p>
            <a:pPr marL="0" indent="0">
              <a:buNone/>
            </a:pPr>
            <a:r>
              <a:rPr lang="en-US" sz="1100" dirty="0">
                <a:solidFill>
                  <a:srgbClr val="6B8CAE"/>
                </a:solidFill>
                <a:latin typeface="Calibri" pitchFamily="34" charset="0"/>
                <a:ea typeface="Calibri" pitchFamily="34" charset="-122"/>
                <a:cs typeface="Calibri" pitchFamily="34" charset="-120"/>
              </a:rPr>
              <a:t>Spring 2026  ·  DSCI 2411  ·  The American University in Cairo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811</TotalTime>
  <Words>661</Words>
  <Application>Microsoft Office PowerPoint</Application>
  <PresentationFormat>On-screen Show (16:9)</PresentationFormat>
  <Paragraphs>103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Happiness Analysis</dc:title>
  <dc:subject>PptxGenJS Presentation</dc:subject>
  <dc:creator>PptxGenJS</dc:creator>
  <cp:lastModifiedBy>seif ahmed</cp:lastModifiedBy>
  <cp:revision>5</cp:revision>
  <dcterms:created xsi:type="dcterms:W3CDTF">2026-05-13T10:52:59Z</dcterms:created>
  <dcterms:modified xsi:type="dcterms:W3CDTF">2026-08-17T22:42:29Z</dcterms:modified>
</cp:coreProperties>
</file>